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
  </p:notesMasterIdLst>
  <p:sldIdLst>
    <p:sldId id="262" r:id="rId2"/>
    <p:sldId id="263" r:id="rId3"/>
    <p:sldId id="259" r:id="rId4"/>
    <p:sldId id="260" r:id="rId5"/>
    <p:sldId id="261" r:id="rId6"/>
  </p:sldIdLst>
  <p:sldSz cx="12192000" cy="6858000"/>
  <p:notesSz cx="6858000" cy="9144000"/>
  <p:defaultTextStyle>
    <a:defPPr lvl="0">
      <a:defRPr lang="en-US"/>
    </a:defPPr>
    <a:lvl1pPr lvl="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lvl="1"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lvl="2"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lvl="3"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lvl="4"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lvl="5" algn="l" defTabSz="914400" rtl="0" eaLnBrk="1" latinLnBrk="0" hangingPunct="1">
      <a:defRPr kern="1200">
        <a:solidFill>
          <a:schemeClr val="tx1"/>
        </a:solidFill>
        <a:latin typeface="Calibri" pitchFamily="34" charset="0"/>
        <a:ea typeface="ＭＳ Ｐゴシック" pitchFamily="1" charset="-128"/>
        <a:cs typeface="+mn-cs"/>
      </a:defRPr>
    </a:lvl6pPr>
    <a:lvl7pPr marL="2743200" lvl="6" algn="l" defTabSz="914400" rtl="0" eaLnBrk="1" latinLnBrk="0" hangingPunct="1">
      <a:defRPr kern="1200">
        <a:solidFill>
          <a:schemeClr val="tx1"/>
        </a:solidFill>
        <a:latin typeface="Calibri" pitchFamily="34" charset="0"/>
        <a:ea typeface="ＭＳ Ｐゴシック" pitchFamily="1" charset="-128"/>
        <a:cs typeface="+mn-cs"/>
      </a:defRPr>
    </a:lvl7pPr>
    <a:lvl8pPr marL="3200400" lvl="7" algn="l" defTabSz="914400" rtl="0" eaLnBrk="1" latinLnBrk="0" hangingPunct="1">
      <a:defRPr kern="1200">
        <a:solidFill>
          <a:schemeClr val="tx1"/>
        </a:solidFill>
        <a:latin typeface="Calibri" pitchFamily="34" charset="0"/>
        <a:ea typeface="ＭＳ Ｐゴシック" pitchFamily="1" charset="-128"/>
        <a:cs typeface="+mn-cs"/>
      </a:defRPr>
    </a:lvl8pPr>
    <a:lvl9pPr marL="3657600" lvl="8"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F5DC"/>
    <a:srgbClr val="D0D8E8"/>
    <a:srgbClr val="CEDCFD"/>
    <a:srgbClr val="BDE6FD"/>
    <a:srgbClr val="EAFAF2"/>
    <a:srgbClr val="93AED9"/>
    <a:srgbClr val="BCB5ED"/>
    <a:srgbClr val="EAB8E2"/>
    <a:srgbClr val="DBD6F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1" d="100"/>
          <a:sy n="61" d="100"/>
        </p:scale>
        <p:origin x="86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data1.xml><?xml version="1.0" encoding="utf-8"?>
<dgm:dataModel xmlns:dgm="http://schemas.openxmlformats.org/drawingml/2006/diagram" xmlns:a="http://schemas.openxmlformats.org/drawingml/2006/main">
  <dgm:ptLst>
    <dgm:pt modelId="{B2B7E4FE-CFAC-4251-B7A5-CB0E4FD735B3}" type="doc">
      <dgm:prSet loTypeId="urn:microsoft.com/office/officeart/2005/8/layout/list1" loCatId="list" qsTypeId="urn:microsoft.com/office/officeart/2005/8/quickstyle/simple1#1" qsCatId="simple" csTypeId="urn:microsoft.com/office/officeart/2005/8/colors/accent1_1#1" csCatId="accent1" phldr="1"/>
      <dgm:spPr/>
      <dgm:t>
        <a:bodyPr/>
        <a:lstStyle/>
        <a:p>
          <a:endParaRPr lang="en-IN"/>
        </a:p>
      </dgm:t>
    </dgm:pt>
    <dgm:pt modelId="{01CD0C8E-AB93-4010-B978-8860D10D8F89}">
      <dgm:prSet/>
      <dgm:spPr>
        <a:solidFill>
          <a:schemeClr val="accent5">
            <a:lumMod val="20000"/>
            <a:lumOff val="80000"/>
          </a:schemeClr>
        </a:solidFill>
      </dgm:spPr>
      <dgm:t>
        <a:bodyPr/>
        <a:lstStyle/>
        <a:p>
          <a:r>
            <a:rPr lang="en-US" dirty="0"/>
            <a:t>Pilot in 1 District - Show quick wins - Use data to convince for state-wide rollout.</a:t>
          </a:r>
          <a:endParaRPr lang="en-IN" dirty="0"/>
        </a:p>
      </dgm:t>
    </dgm:pt>
    <dgm:pt modelId="{7E5DDDAD-D03F-4213-837B-2D5B7BD46237}" type="parTrans" cxnId="{0D800DDA-A6F9-468F-8E5E-A7429C19C509}">
      <dgm:prSet/>
      <dgm:spPr/>
      <dgm:t>
        <a:bodyPr/>
        <a:lstStyle/>
        <a:p>
          <a:endParaRPr lang="en-IN"/>
        </a:p>
      </dgm:t>
    </dgm:pt>
    <dgm:pt modelId="{8DDE8C77-7CA7-4083-AEA8-CB267224E1C6}" type="sibTrans" cxnId="{0D800DDA-A6F9-468F-8E5E-A7429C19C509}">
      <dgm:prSet/>
      <dgm:spPr/>
      <dgm:t>
        <a:bodyPr/>
        <a:lstStyle/>
        <a:p>
          <a:endParaRPr lang="en-IN"/>
        </a:p>
      </dgm:t>
    </dgm:pt>
    <dgm:pt modelId="{9253CBC0-5032-4C60-B9EA-0A8F3E652C11}">
      <dgm:prSet phldrT="[Text]"/>
      <dgm:spPr/>
      <dgm:t>
        <a:bodyPr/>
        <a:lstStyle/>
        <a:p>
          <a:r>
            <a:rPr lang="en-US" dirty="0"/>
            <a:t>Bureaucratic resistance / Slow govt approvals</a:t>
          </a:r>
          <a:endParaRPr lang="en-IN" dirty="0"/>
        </a:p>
      </dgm:t>
    </dgm:pt>
    <dgm:pt modelId="{70FCDD47-8E2C-4B9A-AB5F-A02498D783A4}" type="sibTrans" cxnId="{6E056D2E-F438-429B-94AD-63F9EEE02502}">
      <dgm:prSet/>
      <dgm:spPr/>
      <dgm:t>
        <a:bodyPr/>
        <a:lstStyle/>
        <a:p>
          <a:endParaRPr lang="en-IN"/>
        </a:p>
      </dgm:t>
    </dgm:pt>
    <dgm:pt modelId="{CAE8D5FA-96F0-4086-AC08-E4D1F4E0F05C}" type="parTrans" cxnId="{6E056D2E-F438-429B-94AD-63F9EEE02502}">
      <dgm:prSet/>
      <dgm:spPr/>
      <dgm:t>
        <a:bodyPr/>
        <a:lstStyle/>
        <a:p>
          <a:endParaRPr lang="en-IN"/>
        </a:p>
      </dgm:t>
    </dgm:pt>
    <dgm:pt modelId="{A51961FE-FA2E-4253-8FE7-CB2A733B5202}">
      <dgm:prSet/>
      <dgm:spPr/>
      <dgm:t>
        <a:bodyPr/>
        <a:lstStyle/>
        <a:p>
          <a:r>
            <a:rPr lang="en-US" dirty="0"/>
            <a:t>Low digital literacy among citizens</a:t>
          </a:r>
          <a:endParaRPr lang="en-IN" dirty="0"/>
        </a:p>
      </dgm:t>
    </dgm:pt>
    <dgm:pt modelId="{65A59ED5-C651-4568-BF13-8F25AD945DF7}" type="parTrans" cxnId="{12F1DBD4-F950-4CC3-A254-AC0EEEEA1967}">
      <dgm:prSet/>
      <dgm:spPr/>
      <dgm:t>
        <a:bodyPr/>
        <a:lstStyle/>
        <a:p>
          <a:endParaRPr lang="en-IN"/>
        </a:p>
      </dgm:t>
    </dgm:pt>
    <dgm:pt modelId="{73B6B4B7-67C3-4AC0-997A-3242E82EA762}" type="sibTrans" cxnId="{12F1DBD4-F950-4CC3-A254-AC0EEEEA1967}">
      <dgm:prSet/>
      <dgm:spPr/>
      <dgm:t>
        <a:bodyPr/>
        <a:lstStyle/>
        <a:p>
          <a:endParaRPr lang="en-IN"/>
        </a:p>
      </dgm:t>
    </dgm:pt>
    <dgm:pt modelId="{E02E20F1-44DC-49FF-B3DC-52FF3583DC60}">
      <dgm:prSet/>
      <dgm:spPr>
        <a:solidFill>
          <a:srgbClr val="D7E5FF"/>
        </a:solidFill>
      </dgm:spPr>
      <dgm:t>
        <a:bodyPr/>
        <a:lstStyle/>
        <a:p>
          <a:r>
            <a:rPr lang="en-IN" dirty="0"/>
            <a:t>Voice-to-text submission + Offline mode + Local language UI + Helpline </a:t>
          </a:r>
          <a:r>
            <a:rPr lang="en-IN"/>
            <a:t>support.</a:t>
          </a:r>
          <a:endParaRPr lang="en-IN" dirty="0"/>
        </a:p>
      </dgm:t>
    </dgm:pt>
    <dgm:pt modelId="{BB364595-C4E4-46C8-99FA-8B59CD67D693}" type="parTrans" cxnId="{B6A985A7-39C6-4CC9-8E47-A0B3961B96AE}">
      <dgm:prSet/>
      <dgm:spPr/>
      <dgm:t>
        <a:bodyPr/>
        <a:lstStyle/>
        <a:p>
          <a:endParaRPr lang="en-IN"/>
        </a:p>
      </dgm:t>
    </dgm:pt>
    <dgm:pt modelId="{EB05A638-C911-4369-8762-E61D4CB47EE0}" type="sibTrans" cxnId="{B6A985A7-39C6-4CC9-8E47-A0B3961B96AE}">
      <dgm:prSet/>
      <dgm:spPr/>
      <dgm:t>
        <a:bodyPr/>
        <a:lstStyle/>
        <a:p>
          <a:endParaRPr lang="en-IN"/>
        </a:p>
      </dgm:t>
    </dgm:pt>
    <dgm:pt modelId="{7BB76F4A-5DF9-4F6D-8AF3-3D185E87B2D6}">
      <dgm:prSet/>
      <dgm:spPr/>
      <dgm:t>
        <a:bodyPr/>
        <a:lstStyle/>
        <a:p>
          <a:r>
            <a:rPr lang="en-IN" dirty="0"/>
            <a:t>Universities may not participate</a:t>
          </a:r>
        </a:p>
      </dgm:t>
    </dgm:pt>
    <dgm:pt modelId="{9BB1B11E-1962-4924-8F16-53CB5522C88C}" type="parTrans" cxnId="{8E351BB9-D746-48FF-9D11-85343F928680}">
      <dgm:prSet/>
      <dgm:spPr/>
      <dgm:t>
        <a:bodyPr/>
        <a:lstStyle/>
        <a:p>
          <a:endParaRPr lang="en-IN"/>
        </a:p>
      </dgm:t>
    </dgm:pt>
    <dgm:pt modelId="{7D905DE2-184E-45BB-8D2E-D87B04CE1A46}" type="sibTrans" cxnId="{8E351BB9-D746-48FF-9D11-85343F928680}">
      <dgm:prSet/>
      <dgm:spPr/>
      <dgm:t>
        <a:bodyPr/>
        <a:lstStyle/>
        <a:p>
          <a:endParaRPr lang="en-IN"/>
        </a:p>
      </dgm:t>
    </dgm:pt>
    <dgm:pt modelId="{036AD815-7F11-40B7-AE66-89DD1A7AD890}">
      <dgm:prSet/>
      <dgm:spPr>
        <a:solidFill>
          <a:schemeClr val="accent6">
            <a:lumMod val="20000"/>
            <a:lumOff val="80000"/>
          </a:schemeClr>
        </a:solidFill>
      </dgm:spPr>
      <dgm:t>
        <a:bodyPr/>
        <a:lstStyle/>
        <a:p>
          <a:r>
            <a:rPr lang="en-US" dirty="0"/>
            <a:t>Sign MOUs with UGC/AICTE - Offer academic credits to students - Mandate for engineering colleges.</a:t>
          </a:r>
          <a:endParaRPr lang="en-IN" dirty="0"/>
        </a:p>
      </dgm:t>
    </dgm:pt>
    <dgm:pt modelId="{96A9A1A3-24D4-4AE6-B233-863EB76207AA}" type="parTrans" cxnId="{BD78F91C-3DF4-4C2E-B379-C568EC0442D2}">
      <dgm:prSet/>
      <dgm:spPr/>
      <dgm:t>
        <a:bodyPr/>
        <a:lstStyle/>
        <a:p>
          <a:endParaRPr lang="en-IN"/>
        </a:p>
      </dgm:t>
    </dgm:pt>
    <dgm:pt modelId="{630E63B1-1BD6-4C8D-A828-DFE008BB87D6}" type="sibTrans" cxnId="{BD78F91C-3DF4-4C2E-B379-C568EC0442D2}">
      <dgm:prSet/>
      <dgm:spPr/>
      <dgm:t>
        <a:bodyPr/>
        <a:lstStyle/>
        <a:p>
          <a:endParaRPr lang="en-IN"/>
        </a:p>
      </dgm:t>
    </dgm:pt>
    <dgm:pt modelId="{4706C43C-C315-4BF2-90D9-4224FDE1333A}">
      <dgm:prSet/>
      <dgm:spPr/>
      <dgm:t>
        <a:bodyPr/>
        <a:lstStyle/>
        <a:p>
          <a:r>
            <a:rPr lang="en-US" dirty="0"/>
            <a:t>Industry partners hesitant to invest</a:t>
          </a:r>
          <a:endParaRPr lang="en-IN" dirty="0"/>
        </a:p>
      </dgm:t>
    </dgm:pt>
    <dgm:pt modelId="{20BC169B-69FB-4056-A76C-9EF0EB21E6A0}" type="parTrans" cxnId="{057C6186-7AEA-4894-AB2C-92FF4E42A11D}">
      <dgm:prSet/>
      <dgm:spPr/>
      <dgm:t>
        <a:bodyPr/>
        <a:lstStyle/>
        <a:p>
          <a:endParaRPr lang="en-IN"/>
        </a:p>
      </dgm:t>
    </dgm:pt>
    <dgm:pt modelId="{16DA3343-EC51-424A-963F-BF2FDEE7622C}" type="sibTrans" cxnId="{057C6186-7AEA-4894-AB2C-92FF4E42A11D}">
      <dgm:prSet/>
      <dgm:spPr/>
      <dgm:t>
        <a:bodyPr/>
        <a:lstStyle/>
        <a:p>
          <a:endParaRPr lang="en-IN"/>
        </a:p>
      </dgm:t>
    </dgm:pt>
    <dgm:pt modelId="{B7270D1F-BF5B-42EF-9504-91E0652447DE}">
      <dgm:prSet/>
      <dgm:spPr>
        <a:solidFill>
          <a:srgbClr val="FEF7E5"/>
        </a:solidFill>
      </dgm:spPr>
      <dgm:t>
        <a:bodyPr/>
        <a:lstStyle/>
        <a:p>
          <a:r>
            <a:rPr lang="en-US" dirty="0"/>
            <a:t>Start with non-monetary contributions (mentorship, cloud credits) - Show prototype success - Attract funding later.</a:t>
          </a:r>
          <a:endParaRPr lang="en-IN" dirty="0"/>
        </a:p>
      </dgm:t>
    </dgm:pt>
    <dgm:pt modelId="{308B2CA2-755F-411D-8F24-60EC6909F792}" type="parTrans" cxnId="{12176CFF-CEC0-4369-8623-6A0488C376DF}">
      <dgm:prSet/>
      <dgm:spPr/>
      <dgm:t>
        <a:bodyPr/>
        <a:lstStyle/>
        <a:p>
          <a:endParaRPr lang="en-IN"/>
        </a:p>
      </dgm:t>
    </dgm:pt>
    <dgm:pt modelId="{EAB3CDC5-ECC0-414F-BCE3-2C578D245135}" type="sibTrans" cxnId="{12176CFF-CEC0-4369-8623-6A0488C376DF}">
      <dgm:prSet/>
      <dgm:spPr/>
      <dgm:t>
        <a:bodyPr/>
        <a:lstStyle/>
        <a:p>
          <a:endParaRPr lang="en-IN"/>
        </a:p>
      </dgm:t>
    </dgm:pt>
    <dgm:pt modelId="{172E1D30-5676-4096-88AA-C107CD051E9E}">
      <dgm:prSet/>
      <dgm:spPr/>
      <dgm:t>
        <a:bodyPr/>
        <a:lstStyle/>
        <a:p>
          <a:r>
            <a:rPr lang="en-IN" dirty="0"/>
            <a:t>Al misclassification / Wrong routing</a:t>
          </a:r>
        </a:p>
      </dgm:t>
    </dgm:pt>
    <dgm:pt modelId="{0C771D48-C38E-4419-AB00-0F4DD030BC9F}" type="parTrans" cxnId="{E0374A93-903F-4534-A316-F86205674AD3}">
      <dgm:prSet/>
      <dgm:spPr/>
      <dgm:t>
        <a:bodyPr/>
        <a:lstStyle/>
        <a:p>
          <a:endParaRPr lang="en-IN"/>
        </a:p>
      </dgm:t>
    </dgm:pt>
    <dgm:pt modelId="{9F04B5FE-6E2C-4808-8E77-D9B7A3B86F6D}" type="sibTrans" cxnId="{E0374A93-903F-4534-A316-F86205674AD3}">
      <dgm:prSet/>
      <dgm:spPr/>
      <dgm:t>
        <a:bodyPr/>
        <a:lstStyle/>
        <a:p>
          <a:endParaRPr lang="en-IN"/>
        </a:p>
      </dgm:t>
    </dgm:pt>
    <dgm:pt modelId="{8004FD62-4625-497C-8152-4776EC3FA301}">
      <dgm:prSet/>
      <dgm:spPr>
        <a:solidFill>
          <a:schemeClr val="accent2">
            <a:lumMod val="20000"/>
            <a:lumOff val="80000"/>
          </a:schemeClr>
        </a:solidFill>
      </dgm:spPr>
      <dgm:t>
        <a:bodyPr/>
        <a:lstStyle/>
        <a:p>
          <a:r>
            <a:rPr lang="en-US" dirty="0"/>
            <a:t>Human-in-the-Loop - Govt officers always validate/re-route Al </a:t>
          </a:r>
          <a:r>
            <a:rPr lang="en-US"/>
            <a:t>decisions.</a:t>
          </a:r>
          <a:endParaRPr lang="en-IN" dirty="0"/>
        </a:p>
      </dgm:t>
    </dgm:pt>
    <dgm:pt modelId="{24E19FAB-1D13-4923-B104-9584BFB12C89}" type="parTrans" cxnId="{2F6CEFD8-54FC-4C17-9731-B78D1DC754B1}">
      <dgm:prSet/>
      <dgm:spPr/>
      <dgm:t>
        <a:bodyPr/>
        <a:lstStyle/>
        <a:p>
          <a:endParaRPr lang="en-IN"/>
        </a:p>
      </dgm:t>
    </dgm:pt>
    <dgm:pt modelId="{782262AE-68C7-4F84-8C85-97A50B80EDD5}" type="sibTrans" cxnId="{2F6CEFD8-54FC-4C17-9731-B78D1DC754B1}">
      <dgm:prSet/>
      <dgm:spPr/>
      <dgm:t>
        <a:bodyPr/>
        <a:lstStyle/>
        <a:p>
          <a:endParaRPr lang="en-IN"/>
        </a:p>
      </dgm:t>
    </dgm:pt>
    <dgm:pt modelId="{17369C15-3E2B-42B8-BEAF-368068D86467}">
      <dgm:prSet/>
      <dgm:spPr/>
      <dgm:t>
        <a:bodyPr/>
        <a:lstStyle/>
        <a:p>
          <a:r>
            <a:rPr lang="en-IN" dirty="0"/>
            <a:t>Citizen data privacy concerns</a:t>
          </a:r>
        </a:p>
      </dgm:t>
    </dgm:pt>
    <dgm:pt modelId="{B57FDBE8-753E-4F1B-BDC1-DBDFD180B41D}" type="parTrans" cxnId="{6BBBBE5D-C54F-468B-A5FC-159DEC0DFABB}">
      <dgm:prSet/>
      <dgm:spPr/>
      <dgm:t>
        <a:bodyPr/>
        <a:lstStyle/>
        <a:p>
          <a:endParaRPr lang="en-IN"/>
        </a:p>
      </dgm:t>
    </dgm:pt>
    <dgm:pt modelId="{089C4047-526D-49EC-BFD6-07EA14EC0D13}" type="sibTrans" cxnId="{6BBBBE5D-C54F-468B-A5FC-159DEC0DFABB}">
      <dgm:prSet/>
      <dgm:spPr/>
      <dgm:t>
        <a:bodyPr/>
        <a:lstStyle/>
        <a:p>
          <a:endParaRPr lang="en-IN"/>
        </a:p>
      </dgm:t>
    </dgm:pt>
    <dgm:pt modelId="{05DC2D22-9349-4D2F-BC84-EEAE741ABB9A}">
      <dgm:prSet/>
      <dgm:spPr>
        <a:solidFill>
          <a:srgbClr val="E8E6FE"/>
        </a:solidFill>
      </dgm:spPr>
      <dgm:t>
        <a:bodyPr/>
        <a:lstStyle/>
        <a:p>
          <a:r>
            <a:rPr lang="en-US" dirty="0"/>
            <a:t>Role-based access control + Anonymize personal data + Encrypted cloud storage.</a:t>
          </a:r>
          <a:endParaRPr lang="en-IN" dirty="0"/>
        </a:p>
      </dgm:t>
    </dgm:pt>
    <dgm:pt modelId="{78117118-EC80-4F57-88D1-1C79F905B9B8}" type="parTrans" cxnId="{B0AA0CF3-7A69-43CA-816F-E81A95AA9B0C}">
      <dgm:prSet/>
      <dgm:spPr/>
      <dgm:t>
        <a:bodyPr/>
        <a:lstStyle/>
        <a:p>
          <a:endParaRPr lang="en-IN"/>
        </a:p>
      </dgm:t>
    </dgm:pt>
    <dgm:pt modelId="{CE7B5F81-A3EA-46A6-988A-AEDF447F3F32}" type="sibTrans" cxnId="{B0AA0CF3-7A69-43CA-816F-E81A95AA9B0C}">
      <dgm:prSet/>
      <dgm:spPr/>
      <dgm:t>
        <a:bodyPr/>
        <a:lstStyle/>
        <a:p>
          <a:endParaRPr lang="en-IN"/>
        </a:p>
      </dgm:t>
    </dgm:pt>
    <dgm:pt modelId="{93108F94-D927-4546-8420-C0CABD00C553}">
      <dgm:prSet/>
      <dgm:spPr/>
      <dgm:t>
        <a:bodyPr/>
        <a:lstStyle/>
        <a:p>
          <a:r>
            <a:rPr lang="en-IN" dirty="0"/>
            <a:t>Project abandonment after prototype</a:t>
          </a:r>
        </a:p>
      </dgm:t>
    </dgm:pt>
    <dgm:pt modelId="{54816F38-0EAC-4B0E-A78B-4BFA485D5CF0}" type="parTrans" cxnId="{9929387E-F21C-4044-A466-BF5C0A15233A}">
      <dgm:prSet/>
      <dgm:spPr/>
      <dgm:t>
        <a:bodyPr/>
        <a:lstStyle/>
        <a:p>
          <a:endParaRPr lang="en-IN"/>
        </a:p>
      </dgm:t>
    </dgm:pt>
    <dgm:pt modelId="{33C79BD8-023B-4729-8E88-E16CC3054DDA}" type="sibTrans" cxnId="{9929387E-F21C-4044-A466-BF5C0A15233A}">
      <dgm:prSet/>
      <dgm:spPr/>
      <dgm:t>
        <a:bodyPr/>
        <a:lstStyle/>
        <a:p>
          <a:endParaRPr lang="en-IN"/>
        </a:p>
      </dgm:t>
    </dgm:pt>
    <dgm:pt modelId="{D398293E-F282-4C67-9416-3991E46635CA}">
      <dgm:prSet/>
      <dgm:spPr>
        <a:solidFill>
          <a:srgbClr val="EBF5FE"/>
        </a:solidFill>
      </dgm:spPr>
      <dgm:t>
        <a:bodyPr/>
        <a:lstStyle/>
        <a:p>
          <a:r>
            <a:rPr lang="en-US" dirty="0"/>
            <a:t>Open-Source Repository - All solutions publicly available for replication by other villages/cities.</a:t>
          </a:r>
          <a:endParaRPr lang="en-IN" dirty="0"/>
        </a:p>
      </dgm:t>
    </dgm:pt>
    <dgm:pt modelId="{1ADE4EC7-2727-45A8-9E03-C93B986F633C}" type="parTrans" cxnId="{4259CDA2-2198-4D20-81B1-42894F68D6CE}">
      <dgm:prSet/>
      <dgm:spPr/>
      <dgm:t>
        <a:bodyPr/>
        <a:lstStyle/>
        <a:p>
          <a:endParaRPr lang="en-IN"/>
        </a:p>
      </dgm:t>
    </dgm:pt>
    <dgm:pt modelId="{5FCB197A-4DF5-4229-8BDA-2519A9CEDDB9}" type="sibTrans" cxnId="{4259CDA2-2198-4D20-81B1-42894F68D6CE}">
      <dgm:prSet/>
      <dgm:spPr/>
      <dgm:t>
        <a:bodyPr/>
        <a:lstStyle/>
        <a:p>
          <a:endParaRPr lang="en-IN"/>
        </a:p>
      </dgm:t>
    </dgm:pt>
    <dgm:pt modelId="{18F31F17-9712-4572-BB5E-7B04068E6C9C}" type="pres">
      <dgm:prSet presAssocID="{B2B7E4FE-CFAC-4251-B7A5-CB0E4FD735B3}" presName="linear" presStyleCnt="0">
        <dgm:presLayoutVars>
          <dgm:dir/>
          <dgm:animLvl val="lvl"/>
          <dgm:resizeHandles val="exact"/>
        </dgm:presLayoutVars>
      </dgm:prSet>
      <dgm:spPr/>
    </dgm:pt>
    <dgm:pt modelId="{DF723DB8-C09B-4F53-A801-35FFFF767A37}" type="pres">
      <dgm:prSet presAssocID="{9253CBC0-5032-4C60-B9EA-0A8F3E652C11}" presName="parentLin" presStyleCnt="0"/>
      <dgm:spPr/>
    </dgm:pt>
    <dgm:pt modelId="{51E2A8BC-C8C8-4BFF-B762-52BC7ABC80AD}" type="pres">
      <dgm:prSet presAssocID="{9253CBC0-5032-4C60-B9EA-0A8F3E652C11}" presName="parentLeftMargin" presStyleLbl="node1" presStyleIdx="0" presStyleCnt="7"/>
      <dgm:spPr/>
    </dgm:pt>
    <dgm:pt modelId="{2F46DCB5-A195-440C-9F8C-E987C4E0FAE4}" type="pres">
      <dgm:prSet presAssocID="{9253CBC0-5032-4C60-B9EA-0A8F3E652C11}" presName="parentText" presStyleLbl="node1" presStyleIdx="0" presStyleCnt="7">
        <dgm:presLayoutVars>
          <dgm:chMax val="0"/>
          <dgm:bulletEnabled val="1"/>
        </dgm:presLayoutVars>
      </dgm:prSet>
      <dgm:spPr/>
    </dgm:pt>
    <dgm:pt modelId="{32B4F33D-B20F-4850-AABE-D5FBDBD3E16D}" type="pres">
      <dgm:prSet presAssocID="{9253CBC0-5032-4C60-B9EA-0A8F3E652C11}" presName="negativeSpace" presStyleCnt="0"/>
      <dgm:spPr/>
    </dgm:pt>
    <dgm:pt modelId="{42FD6F16-C0A8-40F3-BB36-17138F5B81A5}" type="pres">
      <dgm:prSet presAssocID="{9253CBC0-5032-4C60-B9EA-0A8F3E652C11}" presName="childText" presStyleLbl="conFgAcc1" presStyleIdx="0" presStyleCnt="7" custLinFactNeighborY="-12318">
        <dgm:presLayoutVars>
          <dgm:bulletEnabled val="1"/>
        </dgm:presLayoutVars>
      </dgm:prSet>
      <dgm:spPr/>
    </dgm:pt>
    <dgm:pt modelId="{F89090EE-E6AB-4F21-99C6-CBC945C01AEC}" type="pres">
      <dgm:prSet presAssocID="{70FCDD47-8E2C-4B9A-AB5F-A02498D783A4}" presName="spaceBetweenRectangles" presStyleCnt="0"/>
      <dgm:spPr/>
    </dgm:pt>
    <dgm:pt modelId="{A4C67409-2147-4A67-9AAA-1E0AE1C6F236}" type="pres">
      <dgm:prSet presAssocID="{A51961FE-FA2E-4253-8FE7-CB2A733B5202}" presName="parentLin" presStyleCnt="0"/>
      <dgm:spPr/>
    </dgm:pt>
    <dgm:pt modelId="{ECAAE153-B260-41F3-B238-215B1FEA4DC4}" type="pres">
      <dgm:prSet presAssocID="{A51961FE-FA2E-4253-8FE7-CB2A733B5202}" presName="parentLeftMargin" presStyleLbl="node1" presStyleIdx="0" presStyleCnt="7"/>
      <dgm:spPr/>
    </dgm:pt>
    <dgm:pt modelId="{FF4C3F7D-A43E-450E-AD08-21F069B2EC5C}" type="pres">
      <dgm:prSet presAssocID="{A51961FE-FA2E-4253-8FE7-CB2A733B5202}" presName="parentText" presStyleLbl="node1" presStyleIdx="1" presStyleCnt="7">
        <dgm:presLayoutVars>
          <dgm:chMax val="0"/>
          <dgm:bulletEnabled val="1"/>
        </dgm:presLayoutVars>
      </dgm:prSet>
      <dgm:spPr/>
    </dgm:pt>
    <dgm:pt modelId="{19D723D3-E113-4116-BFDC-BC8949263BB2}" type="pres">
      <dgm:prSet presAssocID="{A51961FE-FA2E-4253-8FE7-CB2A733B5202}" presName="negativeSpace" presStyleCnt="0"/>
      <dgm:spPr/>
    </dgm:pt>
    <dgm:pt modelId="{49A72C0C-34B8-4A89-8EED-8DF764A612E8}" type="pres">
      <dgm:prSet presAssocID="{A51961FE-FA2E-4253-8FE7-CB2A733B5202}" presName="childText" presStyleLbl="conFgAcc1" presStyleIdx="1" presStyleCnt="7">
        <dgm:presLayoutVars>
          <dgm:bulletEnabled val="1"/>
        </dgm:presLayoutVars>
      </dgm:prSet>
      <dgm:spPr/>
    </dgm:pt>
    <dgm:pt modelId="{57DC5F87-90F1-4741-B266-CC3A2467FF9E}" type="pres">
      <dgm:prSet presAssocID="{73B6B4B7-67C3-4AC0-997A-3242E82EA762}" presName="spaceBetweenRectangles" presStyleCnt="0"/>
      <dgm:spPr/>
    </dgm:pt>
    <dgm:pt modelId="{A3F74992-D3A7-466D-A3CC-1364377D489B}" type="pres">
      <dgm:prSet presAssocID="{7BB76F4A-5DF9-4F6D-8AF3-3D185E87B2D6}" presName="parentLin" presStyleCnt="0"/>
      <dgm:spPr/>
    </dgm:pt>
    <dgm:pt modelId="{778298AD-DAC0-4730-B688-AE15810C99B6}" type="pres">
      <dgm:prSet presAssocID="{7BB76F4A-5DF9-4F6D-8AF3-3D185E87B2D6}" presName="parentLeftMargin" presStyleLbl="node1" presStyleIdx="1" presStyleCnt="7"/>
      <dgm:spPr/>
    </dgm:pt>
    <dgm:pt modelId="{F431B52D-7295-4DE4-824B-331885D0B004}" type="pres">
      <dgm:prSet presAssocID="{7BB76F4A-5DF9-4F6D-8AF3-3D185E87B2D6}" presName="parentText" presStyleLbl="node1" presStyleIdx="2" presStyleCnt="7">
        <dgm:presLayoutVars>
          <dgm:chMax val="0"/>
          <dgm:bulletEnabled val="1"/>
        </dgm:presLayoutVars>
      </dgm:prSet>
      <dgm:spPr/>
    </dgm:pt>
    <dgm:pt modelId="{AB6CE232-37B5-4C15-93B2-9B0BAC8C74C9}" type="pres">
      <dgm:prSet presAssocID="{7BB76F4A-5DF9-4F6D-8AF3-3D185E87B2D6}" presName="negativeSpace" presStyleCnt="0"/>
      <dgm:spPr/>
    </dgm:pt>
    <dgm:pt modelId="{0575C91B-DCAF-4186-9767-7915A66608CB}" type="pres">
      <dgm:prSet presAssocID="{7BB76F4A-5DF9-4F6D-8AF3-3D185E87B2D6}" presName="childText" presStyleLbl="conFgAcc1" presStyleIdx="2" presStyleCnt="7">
        <dgm:presLayoutVars>
          <dgm:bulletEnabled val="1"/>
        </dgm:presLayoutVars>
      </dgm:prSet>
      <dgm:spPr/>
    </dgm:pt>
    <dgm:pt modelId="{7FD5B1CB-DF12-4A64-BA15-B5C6D11A606B}" type="pres">
      <dgm:prSet presAssocID="{7D905DE2-184E-45BB-8D2E-D87B04CE1A46}" presName="spaceBetweenRectangles" presStyleCnt="0"/>
      <dgm:spPr/>
    </dgm:pt>
    <dgm:pt modelId="{F7F836C8-0D66-4C08-A11E-24244FE861CC}" type="pres">
      <dgm:prSet presAssocID="{4706C43C-C315-4BF2-90D9-4224FDE1333A}" presName="parentLin" presStyleCnt="0"/>
      <dgm:spPr/>
    </dgm:pt>
    <dgm:pt modelId="{3C4E9865-AF95-4A14-AA54-EE9821A5092F}" type="pres">
      <dgm:prSet presAssocID="{4706C43C-C315-4BF2-90D9-4224FDE1333A}" presName="parentLeftMargin" presStyleLbl="node1" presStyleIdx="2" presStyleCnt="7"/>
      <dgm:spPr/>
    </dgm:pt>
    <dgm:pt modelId="{4C002A89-9801-4A0D-B3B0-4C7758A5041E}" type="pres">
      <dgm:prSet presAssocID="{4706C43C-C315-4BF2-90D9-4224FDE1333A}" presName="parentText" presStyleLbl="node1" presStyleIdx="3" presStyleCnt="7" custLinFactNeighborX="11144" custLinFactNeighborY="683">
        <dgm:presLayoutVars>
          <dgm:chMax val="0"/>
          <dgm:bulletEnabled val="1"/>
        </dgm:presLayoutVars>
      </dgm:prSet>
      <dgm:spPr/>
    </dgm:pt>
    <dgm:pt modelId="{330071FD-23F0-4C11-8C4B-998E6849B5F7}" type="pres">
      <dgm:prSet presAssocID="{4706C43C-C315-4BF2-90D9-4224FDE1333A}" presName="negativeSpace" presStyleCnt="0"/>
      <dgm:spPr/>
    </dgm:pt>
    <dgm:pt modelId="{2E462DD8-8756-4161-B2CB-8BA7F1028159}" type="pres">
      <dgm:prSet presAssocID="{4706C43C-C315-4BF2-90D9-4224FDE1333A}" presName="childText" presStyleLbl="conFgAcc1" presStyleIdx="3" presStyleCnt="7">
        <dgm:presLayoutVars>
          <dgm:bulletEnabled val="1"/>
        </dgm:presLayoutVars>
      </dgm:prSet>
      <dgm:spPr/>
    </dgm:pt>
    <dgm:pt modelId="{D1C5D032-7865-4F7A-816C-CDDA7D117E1D}" type="pres">
      <dgm:prSet presAssocID="{16DA3343-EC51-424A-963F-BF2FDEE7622C}" presName="spaceBetweenRectangles" presStyleCnt="0"/>
      <dgm:spPr/>
    </dgm:pt>
    <dgm:pt modelId="{7FF57D9E-5213-4AD8-815D-AF264FBDB832}" type="pres">
      <dgm:prSet presAssocID="{172E1D30-5676-4096-88AA-C107CD051E9E}" presName="parentLin" presStyleCnt="0"/>
      <dgm:spPr/>
    </dgm:pt>
    <dgm:pt modelId="{D8EB283F-F45E-44CC-A1BC-A266EA8FE7C5}" type="pres">
      <dgm:prSet presAssocID="{172E1D30-5676-4096-88AA-C107CD051E9E}" presName="parentLeftMargin" presStyleLbl="node1" presStyleIdx="3" presStyleCnt="7"/>
      <dgm:spPr/>
    </dgm:pt>
    <dgm:pt modelId="{F3B571ED-9025-47E9-AA15-C1ADCC6CC81D}" type="pres">
      <dgm:prSet presAssocID="{172E1D30-5676-4096-88AA-C107CD051E9E}" presName="parentText" presStyleLbl="node1" presStyleIdx="4" presStyleCnt="7" custLinFactNeighborX="14394" custLinFactNeighborY="3029">
        <dgm:presLayoutVars>
          <dgm:chMax val="0"/>
          <dgm:bulletEnabled val="1"/>
        </dgm:presLayoutVars>
      </dgm:prSet>
      <dgm:spPr/>
    </dgm:pt>
    <dgm:pt modelId="{BEDD5C9C-774F-45E9-BEEA-95CBB263FF28}" type="pres">
      <dgm:prSet presAssocID="{172E1D30-5676-4096-88AA-C107CD051E9E}" presName="negativeSpace" presStyleCnt="0"/>
      <dgm:spPr/>
    </dgm:pt>
    <dgm:pt modelId="{82D8DFCB-65EA-4701-803C-E1351821E5E5}" type="pres">
      <dgm:prSet presAssocID="{172E1D30-5676-4096-88AA-C107CD051E9E}" presName="childText" presStyleLbl="conFgAcc1" presStyleIdx="4" presStyleCnt="7">
        <dgm:presLayoutVars>
          <dgm:bulletEnabled val="1"/>
        </dgm:presLayoutVars>
      </dgm:prSet>
      <dgm:spPr/>
    </dgm:pt>
    <dgm:pt modelId="{31F890FB-185E-4B66-8B2A-A1B5D6BEB9E4}" type="pres">
      <dgm:prSet presAssocID="{9F04B5FE-6E2C-4808-8E77-D9B7A3B86F6D}" presName="spaceBetweenRectangles" presStyleCnt="0"/>
      <dgm:spPr/>
    </dgm:pt>
    <dgm:pt modelId="{DADBD933-0B83-4871-9120-4B0691C96731}" type="pres">
      <dgm:prSet presAssocID="{17369C15-3E2B-42B8-BEAF-368068D86467}" presName="parentLin" presStyleCnt="0"/>
      <dgm:spPr/>
    </dgm:pt>
    <dgm:pt modelId="{BC314E65-B181-4850-A014-787E23ED76BD}" type="pres">
      <dgm:prSet presAssocID="{17369C15-3E2B-42B8-BEAF-368068D86467}" presName="parentLeftMargin" presStyleLbl="node1" presStyleIdx="4" presStyleCnt="7"/>
      <dgm:spPr/>
    </dgm:pt>
    <dgm:pt modelId="{4FFD76A8-B5F5-4929-A11D-14DEEB6D5EA1}" type="pres">
      <dgm:prSet presAssocID="{17369C15-3E2B-42B8-BEAF-368068D86467}" presName="parentText" presStyleLbl="node1" presStyleIdx="5" presStyleCnt="7" custLinFactNeighborX="25055" custLinFactNeighborY="-4606">
        <dgm:presLayoutVars>
          <dgm:chMax val="0"/>
          <dgm:bulletEnabled val="1"/>
        </dgm:presLayoutVars>
      </dgm:prSet>
      <dgm:spPr/>
    </dgm:pt>
    <dgm:pt modelId="{1A925764-D26F-498C-BD9E-2D2781FBAFDD}" type="pres">
      <dgm:prSet presAssocID="{17369C15-3E2B-42B8-BEAF-368068D86467}" presName="negativeSpace" presStyleCnt="0"/>
      <dgm:spPr/>
    </dgm:pt>
    <dgm:pt modelId="{A8CA298D-9F49-447E-8291-7ABFC51C48DD}" type="pres">
      <dgm:prSet presAssocID="{17369C15-3E2B-42B8-BEAF-368068D86467}" presName="childText" presStyleLbl="conFgAcc1" presStyleIdx="5" presStyleCnt="7">
        <dgm:presLayoutVars>
          <dgm:bulletEnabled val="1"/>
        </dgm:presLayoutVars>
      </dgm:prSet>
      <dgm:spPr/>
    </dgm:pt>
    <dgm:pt modelId="{921EE909-CBA2-4D71-8E7D-7C4E6F019B79}" type="pres">
      <dgm:prSet presAssocID="{089C4047-526D-49EC-BFD6-07EA14EC0D13}" presName="spaceBetweenRectangles" presStyleCnt="0"/>
      <dgm:spPr/>
    </dgm:pt>
    <dgm:pt modelId="{4104D8E9-A6A6-43C7-99E7-83E6A57F5923}" type="pres">
      <dgm:prSet presAssocID="{93108F94-D927-4546-8420-C0CABD00C553}" presName="parentLin" presStyleCnt="0"/>
      <dgm:spPr/>
    </dgm:pt>
    <dgm:pt modelId="{362CFD4C-29C9-490E-AA4C-FDF578A12871}" type="pres">
      <dgm:prSet presAssocID="{93108F94-D927-4546-8420-C0CABD00C553}" presName="parentLeftMargin" presStyleLbl="node1" presStyleIdx="5" presStyleCnt="7"/>
      <dgm:spPr/>
    </dgm:pt>
    <dgm:pt modelId="{05BE417A-61E9-4E04-A624-F2F0D9584074}" type="pres">
      <dgm:prSet presAssocID="{93108F94-D927-4546-8420-C0CABD00C553}" presName="parentText" presStyleLbl="node1" presStyleIdx="6" presStyleCnt="7" custLinFactNeighborX="19985" custLinFactNeighborY="-2919">
        <dgm:presLayoutVars>
          <dgm:chMax val="0"/>
          <dgm:bulletEnabled val="1"/>
        </dgm:presLayoutVars>
      </dgm:prSet>
      <dgm:spPr/>
    </dgm:pt>
    <dgm:pt modelId="{0CD8E02F-B430-4879-A693-D051E36961C7}" type="pres">
      <dgm:prSet presAssocID="{93108F94-D927-4546-8420-C0CABD00C553}" presName="negativeSpace" presStyleCnt="0"/>
      <dgm:spPr/>
    </dgm:pt>
    <dgm:pt modelId="{4CE58F14-C455-4162-A581-4071D0F0AA3E}" type="pres">
      <dgm:prSet presAssocID="{93108F94-D927-4546-8420-C0CABD00C553}" presName="childText" presStyleLbl="conFgAcc1" presStyleIdx="6" presStyleCnt="7">
        <dgm:presLayoutVars>
          <dgm:bulletEnabled val="1"/>
        </dgm:presLayoutVars>
      </dgm:prSet>
      <dgm:spPr/>
    </dgm:pt>
  </dgm:ptLst>
  <dgm:cxnLst>
    <dgm:cxn modelId="{BDED5110-545D-4AA1-B82C-01302F277E0C}" type="presOf" srcId="{172E1D30-5676-4096-88AA-C107CD051E9E}" destId="{F3B571ED-9025-47E9-AA15-C1ADCC6CC81D}" srcOrd="1" destOrd="0" presId="urn:microsoft.com/office/officeart/2005/8/layout/list1"/>
    <dgm:cxn modelId="{1570CF12-7E85-4A37-B3C0-8EB4A5CEEB2C}" type="presOf" srcId="{8004FD62-4625-497C-8152-4776EC3FA301}" destId="{82D8DFCB-65EA-4701-803C-E1351821E5E5}" srcOrd="0" destOrd="0" presId="urn:microsoft.com/office/officeart/2005/8/layout/list1"/>
    <dgm:cxn modelId="{BD78F91C-3DF4-4C2E-B379-C568EC0442D2}" srcId="{7BB76F4A-5DF9-4F6D-8AF3-3D185E87B2D6}" destId="{036AD815-7F11-40B7-AE66-89DD1A7AD890}" srcOrd="0" destOrd="0" parTransId="{96A9A1A3-24D4-4AE6-B233-863EB76207AA}" sibTransId="{630E63B1-1BD6-4C8D-A828-DFE008BB87D6}"/>
    <dgm:cxn modelId="{05094720-93E0-4A83-9AE5-E467E7A46556}" type="presOf" srcId="{01CD0C8E-AB93-4010-B978-8860D10D8F89}" destId="{42FD6F16-C0A8-40F3-BB36-17138F5B81A5}" srcOrd="0" destOrd="0" presId="urn:microsoft.com/office/officeart/2005/8/layout/list1"/>
    <dgm:cxn modelId="{AE2D8B21-D443-4285-879C-D55A7C69AB9F}" type="presOf" srcId="{B7270D1F-BF5B-42EF-9504-91E0652447DE}" destId="{2E462DD8-8756-4161-B2CB-8BA7F1028159}" srcOrd="0" destOrd="0" presId="urn:microsoft.com/office/officeart/2005/8/layout/list1"/>
    <dgm:cxn modelId="{65126528-D6BA-449F-B85F-BEB98A544C4F}" type="presOf" srcId="{17369C15-3E2B-42B8-BEAF-368068D86467}" destId="{BC314E65-B181-4850-A014-787E23ED76BD}" srcOrd="0" destOrd="0" presId="urn:microsoft.com/office/officeart/2005/8/layout/list1"/>
    <dgm:cxn modelId="{6E056D2E-F438-429B-94AD-63F9EEE02502}" srcId="{B2B7E4FE-CFAC-4251-B7A5-CB0E4FD735B3}" destId="{9253CBC0-5032-4C60-B9EA-0A8F3E652C11}" srcOrd="0" destOrd="0" parTransId="{CAE8D5FA-96F0-4086-AC08-E4D1F4E0F05C}" sibTransId="{70FCDD47-8E2C-4B9A-AB5F-A02498D783A4}"/>
    <dgm:cxn modelId="{43F17433-30A1-49EE-A04F-45BAF3BA8CC0}" type="presOf" srcId="{9253CBC0-5032-4C60-B9EA-0A8F3E652C11}" destId="{51E2A8BC-C8C8-4BFF-B762-52BC7ABC80AD}" srcOrd="0" destOrd="0" presId="urn:microsoft.com/office/officeart/2005/8/layout/list1"/>
    <dgm:cxn modelId="{6BBBBE5D-C54F-468B-A5FC-159DEC0DFABB}" srcId="{B2B7E4FE-CFAC-4251-B7A5-CB0E4FD735B3}" destId="{17369C15-3E2B-42B8-BEAF-368068D86467}" srcOrd="5" destOrd="0" parTransId="{B57FDBE8-753E-4F1B-BDC1-DBDFD180B41D}" sibTransId="{089C4047-526D-49EC-BFD6-07EA14EC0D13}"/>
    <dgm:cxn modelId="{89273F67-4901-4D81-B9D7-9295D15E2655}" type="presOf" srcId="{4706C43C-C315-4BF2-90D9-4224FDE1333A}" destId="{4C002A89-9801-4A0D-B3B0-4C7758A5041E}" srcOrd="1" destOrd="0" presId="urn:microsoft.com/office/officeart/2005/8/layout/list1"/>
    <dgm:cxn modelId="{66F9804B-DB33-4BB4-AB9E-E01A062E0727}" type="presOf" srcId="{93108F94-D927-4546-8420-C0CABD00C553}" destId="{05BE417A-61E9-4E04-A624-F2F0D9584074}" srcOrd="1" destOrd="0" presId="urn:microsoft.com/office/officeart/2005/8/layout/list1"/>
    <dgm:cxn modelId="{BB231757-96CA-4F72-BD07-295140D74464}" type="presOf" srcId="{4706C43C-C315-4BF2-90D9-4224FDE1333A}" destId="{3C4E9865-AF95-4A14-AA54-EE9821A5092F}" srcOrd="0" destOrd="0" presId="urn:microsoft.com/office/officeart/2005/8/layout/list1"/>
    <dgm:cxn modelId="{9929387E-F21C-4044-A466-BF5C0A15233A}" srcId="{B2B7E4FE-CFAC-4251-B7A5-CB0E4FD735B3}" destId="{93108F94-D927-4546-8420-C0CABD00C553}" srcOrd="6" destOrd="0" parTransId="{54816F38-0EAC-4B0E-A78B-4BFA485D5CF0}" sibTransId="{33C79BD8-023B-4729-8E88-E16CC3054DDA}"/>
    <dgm:cxn modelId="{057C6186-7AEA-4894-AB2C-92FF4E42A11D}" srcId="{B2B7E4FE-CFAC-4251-B7A5-CB0E4FD735B3}" destId="{4706C43C-C315-4BF2-90D9-4224FDE1333A}" srcOrd="3" destOrd="0" parTransId="{20BC169B-69FB-4056-A76C-9EF0EB21E6A0}" sibTransId="{16DA3343-EC51-424A-963F-BF2FDEE7622C}"/>
    <dgm:cxn modelId="{E0374A93-903F-4534-A316-F86205674AD3}" srcId="{B2B7E4FE-CFAC-4251-B7A5-CB0E4FD735B3}" destId="{172E1D30-5676-4096-88AA-C107CD051E9E}" srcOrd="4" destOrd="0" parTransId="{0C771D48-C38E-4419-AB00-0F4DD030BC9F}" sibTransId="{9F04B5FE-6E2C-4808-8E77-D9B7A3B86F6D}"/>
    <dgm:cxn modelId="{415F8A99-9132-4F7D-9307-0FBDC2D8F902}" type="presOf" srcId="{B2B7E4FE-CFAC-4251-B7A5-CB0E4FD735B3}" destId="{18F31F17-9712-4572-BB5E-7B04068E6C9C}" srcOrd="0" destOrd="0" presId="urn:microsoft.com/office/officeart/2005/8/layout/list1"/>
    <dgm:cxn modelId="{4259CDA2-2198-4D20-81B1-42894F68D6CE}" srcId="{93108F94-D927-4546-8420-C0CABD00C553}" destId="{D398293E-F282-4C67-9416-3991E46635CA}" srcOrd="0" destOrd="0" parTransId="{1ADE4EC7-2727-45A8-9E03-C93B986F633C}" sibTransId="{5FCB197A-4DF5-4229-8BDA-2519A9CEDDB9}"/>
    <dgm:cxn modelId="{B6A985A7-39C6-4CC9-8E47-A0B3961B96AE}" srcId="{A51961FE-FA2E-4253-8FE7-CB2A733B5202}" destId="{E02E20F1-44DC-49FF-B3DC-52FF3583DC60}" srcOrd="0" destOrd="0" parTransId="{BB364595-C4E4-46C8-99FA-8B59CD67D693}" sibTransId="{EB05A638-C911-4369-8762-E61D4CB47EE0}"/>
    <dgm:cxn modelId="{B3A3F6A8-1BDE-48EA-96AD-ED2ED46BA50C}" type="presOf" srcId="{7BB76F4A-5DF9-4F6D-8AF3-3D185E87B2D6}" destId="{F431B52D-7295-4DE4-824B-331885D0B004}" srcOrd="1" destOrd="0" presId="urn:microsoft.com/office/officeart/2005/8/layout/list1"/>
    <dgm:cxn modelId="{E0A6CFAC-F6F3-4816-B943-B59DAF1EA72B}" type="presOf" srcId="{17369C15-3E2B-42B8-BEAF-368068D86467}" destId="{4FFD76A8-B5F5-4929-A11D-14DEEB6D5EA1}" srcOrd="1" destOrd="0" presId="urn:microsoft.com/office/officeart/2005/8/layout/list1"/>
    <dgm:cxn modelId="{8E351BB9-D746-48FF-9D11-85343F928680}" srcId="{B2B7E4FE-CFAC-4251-B7A5-CB0E4FD735B3}" destId="{7BB76F4A-5DF9-4F6D-8AF3-3D185E87B2D6}" srcOrd="2" destOrd="0" parTransId="{9BB1B11E-1962-4924-8F16-53CB5522C88C}" sibTransId="{7D905DE2-184E-45BB-8D2E-D87B04CE1A46}"/>
    <dgm:cxn modelId="{5DCD29C0-7774-4C7B-80B6-2A56D613B611}" type="presOf" srcId="{05DC2D22-9349-4D2F-BC84-EEAE741ABB9A}" destId="{A8CA298D-9F49-447E-8291-7ABFC51C48DD}" srcOrd="0" destOrd="0" presId="urn:microsoft.com/office/officeart/2005/8/layout/list1"/>
    <dgm:cxn modelId="{EEF5BAC6-EC2D-4C79-B089-8A8CC337C82A}" type="presOf" srcId="{9253CBC0-5032-4C60-B9EA-0A8F3E652C11}" destId="{2F46DCB5-A195-440C-9F8C-E987C4E0FAE4}" srcOrd="1" destOrd="0" presId="urn:microsoft.com/office/officeart/2005/8/layout/list1"/>
    <dgm:cxn modelId="{12F1DBD4-F950-4CC3-A254-AC0EEEEA1967}" srcId="{B2B7E4FE-CFAC-4251-B7A5-CB0E4FD735B3}" destId="{A51961FE-FA2E-4253-8FE7-CB2A733B5202}" srcOrd="1" destOrd="0" parTransId="{65A59ED5-C651-4568-BF13-8F25AD945DF7}" sibTransId="{73B6B4B7-67C3-4AC0-997A-3242E82EA762}"/>
    <dgm:cxn modelId="{2F6CEFD8-54FC-4C17-9731-B78D1DC754B1}" srcId="{172E1D30-5676-4096-88AA-C107CD051E9E}" destId="{8004FD62-4625-497C-8152-4776EC3FA301}" srcOrd="0" destOrd="0" parTransId="{24E19FAB-1D13-4923-B104-9584BFB12C89}" sibTransId="{782262AE-68C7-4F84-8C85-97A50B80EDD5}"/>
    <dgm:cxn modelId="{B583FAD8-642F-41B8-92B1-1F46EE722742}" type="presOf" srcId="{A51961FE-FA2E-4253-8FE7-CB2A733B5202}" destId="{FF4C3F7D-A43E-450E-AD08-21F069B2EC5C}" srcOrd="1" destOrd="0" presId="urn:microsoft.com/office/officeart/2005/8/layout/list1"/>
    <dgm:cxn modelId="{0D800DDA-A6F9-468F-8E5E-A7429C19C509}" srcId="{9253CBC0-5032-4C60-B9EA-0A8F3E652C11}" destId="{01CD0C8E-AB93-4010-B978-8860D10D8F89}" srcOrd="0" destOrd="0" parTransId="{7E5DDDAD-D03F-4213-837B-2D5B7BD46237}" sibTransId="{8DDE8C77-7CA7-4083-AEA8-CB267224E1C6}"/>
    <dgm:cxn modelId="{D66FBEE2-9174-4FFC-B263-E989C6E0F6D6}" type="presOf" srcId="{036AD815-7F11-40B7-AE66-89DD1A7AD890}" destId="{0575C91B-DCAF-4186-9767-7915A66608CB}" srcOrd="0" destOrd="0" presId="urn:microsoft.com/office/officeart/2005/8/layout/list1"/>
    <dgm:cxn modelId="{276FFBE2-A66B-4BC0-A18B-1FF7B2377AEB}" type="presOf" srcId="{7BB76F4A-5DF9-4F6D-8AF3-3D185E87B2D6}" destId="{778298AD-DAC0-4730-B688-AE15810C99B6}" srcOrd="0" destOrd="0" presId="urn:microsoft.com/office/officeart/2005/8/layout/list1"/>
    <dgm:cxn modelId="{34F25AE8-B628-4728-A319-DEE7AB9BB32E}" type="presOf" srcId="{D398293E-F282-4C67-9416-3991E46635CA}" destId="{4CE58F14-C455-4162-A581-4071D0F0AA3E}" srcOrd="0" destOrd="0" presId="urn:microsoft.com/office/officeart/2005/8/layout/list1"/>
    <dgm:cxn modelId="{A0CABDEA-94CF-4359-803E-688C2793823A}" type="presOf" srcId="{A51961FE-FA2E-4253-8FE7-CB2A733B5202}" destId="{ECAAE153-B260-41F3-B238-215B1FEA4DC4}" srcOrd="0" destOrd="0" presId="urn:microsoft.com/office/officeart/2005/8/layout/list1"/>
    <dgm:cxn modelId="{118BB7F0-25AE-4064-AE49-BE60AD4401AF}" type="presOf" srcId="{E02E20F1-44DC-49FF-B3DC-52FF3583DC60}" destId="{49A72C0C-34B8-4A89-8EED-8DF764A612E8}" srcOrd="0" destOrd="0" presId="urn:microsoft.com/office/officeart/2005/8/layout/list1"/>
    <dgm:cxn modelId="{B0AA0CF3-7A69-43CA-816F-E81A95AA9B0C}" srcId="{17369C15-3E2B-42B8-BEAF-368068D86467}" destId="{05DC2D22-9349-4D2F-BC84-EEAE741ABB9A}" srcOrd="0" destOrd="0" parTransId="{78117118-EC80-4F57-88D1-1C79F905B9B8}" sibTransId="{CE7B5F81-A3EA-46A6-988A-AEDF447F3F32}"/>
    <dgm:cxn modelId="{19E033FF-595F-430E-87B8-B7E8967BF55C}" type="presOf" srcId="{93108F94-D927-4546-8420-C0CABD00C553}" destId="{362CFD4C-29C9-490E-AA4C-FDF578A12871}" srcOrd="0" destOrd="0" presId="urn:microsoft.com/office/officeart/2005/8/layout/list1"/>
    <dgm:cxn modelId="{12176CFF-CEC0-4369-8623-6A0488C376DF}" srcId="{4706C43C-C315-4BF2-90D9-4224FDE1333A}" destId="{B7270D1F-BF5B-42EF-9504-91E0652447DE}" srcOrd="0" destOrd="0" parTransId="{308B2CA2-755F-411D-8F24-60EC6909F792}" sibTransId="{EAB3CDC5-ECC0-414F-BCE3-2C578D245135}"/>
    <dgm:cxn modelId="{416F6DFF-265E-47CE-B8EC-3C855D89DDCF}" type="presOf" srcId="{172E1D30-5676-4096-88AA-C107CD051E9E}" destId="{D8EB283F-F45E-44CC-A1BC-A266EA8FE7C5}" srcOrd="0" destOrd="0" presId="urn:microsoft.com/office/officeart/2005/8/layout/list1"/>
    <dgm:cxn modelId="{765CE89C-5470-44F1-9488-1EDDDB4A43D3}" type="presParOf" srcId="{18F31F17-9712-4572-BB5E-7B04068E6C9C}" destId="{DF723DB8-C09B-4F53-A801-35FFFF767A37}" srcOrd="0" destOrd="0" presId="urn:microsoft.com/office/officeart/2005/8/layout/list1"/>
    <dgm:cxn modelId="{108BCC67-7CBD-4E90-921C-C71A8B4B4417}" type="presParOf" srcId="{DF723DB8-C09B-4F53-A801-35FFFF767A37}" destId="{51E2A8BC-C8C8-4BFF-B762-52BC7ABC80AD}" srcOrd="0" destOrd="0" presId="urn:microsoft.com/office/officeart/2005/8/layout/list1"/>
    <dgm:cxn modelId="{E4661302-E89D-4A19-AEAC-62323B25DF5B}" type="presParOf" srcId="{DF723DB8-C09B-4F53-A801-35FFFF767A37}" destId="{2F46DCB5-A195-440C-9F8C-E987C4E0FAE4}" srcOrd="1" destOrd="0" presId="urn:microsoft.com/office/officeart/2005/8/layout/list1"/>
    <dgm:cxn modelId="{4CDB5A36-2440-423F-AD50-02CBB7CAB030}" type="presParOf" srcId="{18F31F17-9712-4572-BB5E-7B04068E6C9C}" destId="{32B4F33D-B20F-4850-AABE-D5FBDBD3E16D}" srcOrd="1" destOrd="0" presId="urn:microsoft.com/office/officeart/2005/8/layout/list1"/>
    <dgm:cxn modelId="{2661AD47-CCD3-4CEA-84AF-E4FE000FB8CB}" type="presParOf" srcId="{18F31F17-9712-4572-BB5E-7B04068E6C9C}" destId="{42FD6F16-C0A8-40F3-BB36-17138F5B81A5}" srcOrd="2" destOrd="0" presId="urn:microsoft.com/office/officeart/2005/8/layout/list1"/>
    <dgm:cxn modelId="{794B2B53-0285-4617-B2D4-1E7F0B3E0EC3}" type="presParOf" srcId="{18F31F17-9712-4572-BB5E-7B04068E6C9C}" destId="{F89090EE-E6AB-4F21-99C6-CBC945C01AEC}" srcOrd="3" destOrd="0" presId="urn:microsoft.com/office/officeart/2005/8/layout/list1"/>
    <dgm:cxn modelId="{2F0B5B30-F102-4065-B5FF-A1AF3E98CC24}" type="presParOf" srcId="{18F31F17-9712-4572-BB5E-7B04068E6C9C}" destId="{A4C67409-2147-4A67-9AAA-1E0AE1C6F236}" srcOrd="4" destOrd="0" presId="urn:microsoft.com/office/officeart/2005/8/layout/list1"/>
    <dgm:cxn modelId="{E6D8DACF-9A78-44A0-A9A2-5D981D5F859C}" type="presParOf" srcId="{A4C67409-2147-4A67-9AAA-1E0AE1C6F236}" destId="{ECAAE153-B260-41F3-B238-215B1FEA4DC4}" srcOrd="0" destOrd="0" presId="urn:microsoft.com/office/officeart/2005/8/layout/list1"/>
    <dgm:cxn modelId="{6D4560A2-8A04-46E7-B32F-1D7E310CB16F}" type="presParOf" srcId="{A4C67409-2147-4A67-9AAA-1E0AE1C6F236}" destId="{FF4C3F7D-A43E-450E-AD08-21F069B2EC5C}" srcOrd="1" destOrd="0" presId="urn:microsoft.com/office/officeart/2005/8/layout/list1"/>
    <dgm:cxn modelId="{96FC5684-4841-4B69-9696-B712C00517EE}" type="presParOf" srcId="{18F31F17-9712-4572-BB5E-7B04068E6C9C}" destId="{19D723D3-E113-4116-BFDC-BC8949263BB2}" srcOrd="5" destOrd="0" presId="urn:microsoft.com/office/officeart/2005/8/layout/list1"/>
    <dgm:cxn modelId="{93593A9D-8F09-4995-A5AD-2B29BEEA6547}" type="presParOf" srcId="{18F31F17-9712-4572-BB5E-7B04068E6C9C}" destId="{49A72C0C-34B8-4A89-8EED-8DF764A612E8}" srcOrd="6" destOrd="0" presId="urn:microsoft.com/office/officeart/2005/8/layout/list1"/>
    <dgm:cxn modelId="{98EBE7A3-1B7C-4E4D-ABF4-556930320DFF}" type="presParOf" srcId="{18F31F17-9712-4572-BB5E-7B04068E6C9C}" destId="{57DC5F87-90F1-4741-B266-CC3A2467FF9E}" srcOrd="7" destOrd="0" presId="urn:microsoft.com/office/officeart/2005/8/layout/list1"/>
    <dgm:cxn modelId="{DCD00959-3B7E-498E-9AAF-E6F00648DD40}" type="presParOf" srcId="{18F31F17-9712-4572-BB5E-7B04068E6C9C}" destId="{A3F74992-D3A7-466D-A3CC-1364377D489B}" srcOrd="8" destOrd="0" presId="urn:microsoft.com/office/officeart/2005/8/layout/list1"/>
    <dgm:cxn modelId="{AA4F0627-91C2-49CA-8DF8-0BF0FB4E6C4E}" type="presParOf" srcId="{A3F74992-D3A7-466D-A3CC-1364377D489B}" destId="{778298AD-DAC0-4730-B688-AE15810C99B6}" srcOrd="0" destOrd="0" presId="urn:microsoft.com/office/officeart/2005/8/layout/list1"/>
    <dgm:cxn modelId="{66E2A863-0AB0-48D5-A3ED-BCA6AAA7AD05}" type="presParOf" srcId="{A3F74992-D3A7-466D-A3CC-1364377D489B}" destId="{F431B52D-7295-4DE4-824B-331885D0B004}" srcOrd="1" destOrd="0" presId="urn:microsoft.com/office/officeart/2005/8/layout/list1"/>
    <dgm:cxn modelId="{1942EB32-DFDE-48D7-8711-F9464D5D960D}" type="presParOf" srcId="{18F31F17-9712-4572-BB5E-7B04068E6C9C}" destId="{AB6CE232-37B5-4C15-93B2-9B0BAC8C74C9}" srcOrd="9" destOrd="0" presId="urn:microsoft.com/office/officeart/2005/8/layout/list1"/>
    <dgm:cxn modelId="{862E5261-C9FE-450E-8B87-E54FAF3B29E3}" type="presParOf" srcId="{18F31F17-9712-4572-BB5E-7B04068E6C9C}" destId="{0575C91B-DCAF-4186-9767-7915A66608CB}" srcOrd="10" destOrd="0" presId="urn:microsoft.com/office/officeart/2005/8/layout/list1"/>
    <dgm:cxn modelId="{ECE23BB0-EB70-4A6B-82F4-F208CA1C2370}" type="presParOf" srcId="{18F31F17-9712-4572-BB5E-7B04068E6C9C}" destId="{7FD5B1CB-DF12-4A64-BA15-B5C6D11A606B}" srcOrd="11" destOrd="0" presId="urn:microsoft.com/office/officeart/2005/8/layout/list1"/>
    <dgm:cxn modelId="{C5E5729B-BDF8-4BFC-A00C-AEB3FED5E1AA}" type="presParOf" srcId="{18F31F17-9712-4572-BB5E-7B04068E6C9C}" destId="{F7F836C8-0D66-4C08-A11E-24244FE861CC}" srcOrd="12" destOrd="0" presId="urn:microsoft.com/office/officeart/2005/8/layout/list1"/>
    <dgm:cxn modelId="{82E6AF1B-633A-47EF-AF45-1E20BB0E1684}" type="presParOf" srcId="{F7F836C8-0D66-4C08-A11E-24244FE861CC}" destId="{3C4E9865-AF95-4A14-AA54-EE9821A5092F}" srcOrd="0" destOrd="0" presId="urn:microsoft.com/office/officeart/2005/8/layout/list1"/>
    <dgm:cxn modelId="{43161F2C-9006-40D9-8DAB-D7C234DC2C6F}" type="presParOf" srcId="{F7F836C8-0D66-4C08-A11E-24244FE861CC}" destId="{4C002A89-9801-4A0D-B3B0-4C7758A5041E}" srcOrd="1" destOrd="0" presId="urn:microsoft.com/office/officeart/2005/8/layout/list1"/>
    <dgm:cxn modelId="{960446FA-FE2E-4274-ABE6-05B9CCAAF122}" type="presParOf" srcId="{18F31F17-9712-4572-BB5E-7B04068E6C9C}" destId="{330071FD-23F0-4C11-8C4B-998E6849B5F7}" srcOrd="13" destOrd="0" presId="urn:microsoft.com/office/officeart/2005/8/layout/list1"/>
    <dgm:cxn modelId="{106CD859-97C7-4583-B692-D1C42DD74AE3}" type="presParOf" srcId="{18F31F17-9712-4572-BB5E-7B04068E6C9C}" destId="{2E462DD8-8756-4161-B2CB-8BA7F1028159}" srcOrd="14" destOrd="0" presId="urn:microsoft.com/office/officeart/2005/8/layout/list1"/>
    <dgm:cxn modelId="{04285C85-876E-43E8-AC4F-88DF4794A4E2}" type="presParOf" srcId="{18F31F17-9712-4572-BB5E-7B04068E6C9C}" destId="{D1C5D032-7865-4F7A-816C-CDDA7D117E1D}" srcOrd="15" destOrd="0" presId="urn:microsoft.com/office/officeart/2005/8/layout/list1"/>
    <dgm:cxn modelId="{D4743D70-27E4-476E-B0C4-3E37F3EDC98C}" type="presParOf" srcId="{18F31F17-9712-4572-BB5E-7B04068E6C9C}" destId="{7FF57D9E-5213-4AD8-815D-AF264FBDB832}" srcOrd="16" destOrd="0" presId="urn:microsoft.com/office/officeart/2005/8/layout/list1"/>
    <dgm:cxn modelId="{570EA30A-3B26-44C6-9048-D6E115BDBF3E}" type="presParOf" srcId="{7FF57D9E-5213-4AD8-815D-AF264FBDB832}" destId="{D8EB283F-F45E-44CC-A1BC-A266EA8FE7C5}" srcOrd="0" destOrd="0" presId="urn:microsoft.com/office/officeart/2005/8/layout/list1"/>
    <dgm:cxn modelId="{709F0CE9-125F-4AA5-A274-4FAB45FFE01B}" type="presParOf" srcId="{7FF57D9E-5213-4AD8-815D-AF264FBDB832}" destId="{F3B571ED-9025-47E9-AA15-C1ADCC6CC81D}" srcOrd="1" destOrd="0" presId="urn:microsoft.com/office/officeart/2005/8/layout/list1"/>
    <dgm:cxn modelId="{7A26B777-7A2B-4C15-96D3-F85FFAC6CAD4}" type="presParOf" srcId="{18F31F17-9712-4572-BB5E-7B04068E6C9C}" destId="{BEDD5C9C-774F-45E9-BEEA-95CBB263FF28}" srcOrd="17" destOrd="0" presId="urn:microsoft.com/office/officeart/2005/8/layout/list1"/>
    <dgm:cxn modelId="{FFFC939F-45AE-4696-AB30-A99A9E6756C1}" type="presParOf" srcId="{18F31F17-9712-4572-BB5E-7B04068E6C9C}" destId="{82D8DFCB-65EA-4701-803C-E1351821E5E5}" srcOrd="18" destOrd="0" presId="urn:microsoft.com/office/officeart/2005/8/layout/list1"/>
    <dgm:cxn modelId="{63DE60E5-CE99-4FF9-9C0F-A1B69F4802EC}" type="presParOf" srcId="{18F31F17-9712-4572-BB5E-7B04068E6C9C}" destId="{31F890FB-185E-4B66-8B2A-A1B5D6BEB9E4}" srcOrd="19" destOrd="0" presId="urn:microsoft.com/office/officeart/2005/8/layout/list1"/>
    <dgm:cxn modelId="{819AD92F-E598-4C1C-835F-646CE83E36D1}" type="presParOf" srcId="{18F31F17-9712-4572-BB5E-7B04068E6C9C}" destId="{DADBD933-0B83-4871-9120-4B0691C96731}" srcOrd="20" destOrd="0" presId="urn:microsoft.com/office/officeart/2005/8/layout/list1"/>
    <dgm:cxn modelId="{87A76F62-8D9C-4B63-8096-017E9E658CC9}" type="presParOf" srcId="{DADBD933-0B83-4871-9120-4B0691C96731}" destId="{BC314E65-B181-4850-A014-787E23ED76BD}" srcOrd="0" destOrd="0" presId="urn:microsoft.com/office/officeart/2005/8/layout/list1"/>
    <dgm:cxn modelId="{2C133EA4-7785-4DCC-B801-6C9A10AC6FEA}" type="presParOf" srcId="{DADBD933-0B83-4871-9120-4B0691C96731}" destId="{4FFD76A8-B5F5-4929-A11D-14DEEB6D5EA1}" srcOrd="1" destOrd="0" presId="urn:microsoft.com/office/officeart/2005/8/layout/list1"/>
    <dgm:cxn modelId="{D26C10FA-F09B-4886-BC3E-CDD66D7E576C}" type="presParOf" srcId="{18F31F17-9712-4572-BB5E-7B04068E6C9C}" destId="{1A925764-D26F-498C-BD9E-2D2781FBAFDD}" srcOrd="21" destOrd="0" presId="urn:microsoft.com/office/officeart/2005/8/layout/list1"/>
    <dgm:cxn modelId="{83990414-F99F-46F7-8669-F351F837CAE2}" type="presParOf" srcId="{18F31F17-9712-4572-BB5E-7B04068E6C9C}" destId="{A8CA298D-9F49-447E-8291-7ABFC51C48DD}" srcOrd="22" destOrd="0" presId="urn:microsoft.com/office/officeart/2005/8/layout/list1"/>
    <dgm:cxn modelId="{0989E265-058B-40B1-BB70-43AD118105C0}" type="presParOf" srcId="{18F31F17-9712-4572-BB5E-7B04068E6C9C}" destId="{921EE909-CBA2-4D71-8E7D-7C4E6F019B79}" srcOrd="23" destOrd="0" presId="urn:microsoft.com/office/officeart/2005/8/layout/list1"/>
    <dgm:cxn modelId="{A9BDD4C0-7966-4424-85E0-EC6AE29170D4}" type="presParOf" srcId="{18F31F17-9712-4572-BB5E-7B04068E6C9C}" destId="{4104D8E9-A6A6-43C7-99E7-83E6A57F5923}" srcOrd="24" destOrd="0" presId="urn:microsoft.com/office/officeart/2005/8/layout/list1"/>
    <dgm:cxn modelId="{C8A490F6-BF83-478E-8012-62D4EF55E8F4}" type="presParOf" srcId="{4104D8E9-A6A6-43C7-99E7-83E6A57F5923}" destId="{362CFD4C-29C9-490E-AA4C-FDF578A12871}" srcOrd="0" destOrd="0" presId="urn:microsoft.com/office/officeart/2005/8/layout/list1"/>
    <dgm:cxn modelId="{24A28330-1FA9-4EC3-ACF6-3016D315F5D0}" type="presParOf" srcId="{4104D8E9-A6A6-43C7-99E7-83E6A57F5923}" destId="{05BE417A-61E9-4E04-A624-F2F0D9584074}" srcOrd="1" destOrd="0" presId="urn:microsoft.com/office/officeart/2005/8/layout/list1"/>
    <dgm:cxn modelId="{53BEDD7F-AA7B-430C-B884-2DA14451B6EF}" type="presParOf" srcId="{18F31F17-9712-4572-BB5E-7B04068E6C9C}" destId="{0CD8E02F-B430-4879-A693-D051E36961C7}" srcOrd="25" destOrd="0" presId="urn:microsoft.com/office/officeart/2005/8/layout/list1"/>
    <dgm:cxn modelId="{959B17D5-0DFA-47B8-81DA-7386931F4BE4}" type="presParOf" srcId="{18F31F17-9712-4572-BB5E-7B04068E6C9C}" destId="{4CE58F14-C455-4162-A581-4071D0F0AA3E}" srcOrd="2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D6F16-C0A8-40F3-BB36-17138F5B81A5}">
      <dsp:nvSpPr>
        <dsp:cNvPr id="0" name=""/>
        <dsp:cNvSpPr/>
      </dsp:nvSpPr>
      <dsp:spPr>
        <a:xfrm>
          <a:off x="0" y="230814"/>
          <a:ext cx="5547794" cy="467775"/>
        </a:xfrm>
        <a:prstGeom prst="rect">
          <a:avLst/>
        </a:prstGeom>
        <a:solidFill>
          <a:schemeClr val="accent5">
            <a:lumMod val="20000"/>
            <a:lumOff val="8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Pilot in 1 District - Show quick wins - Use data to convince for state-wide rollout.</a:t>
          </a:r>
          <a:endParaRPr lang="en-IN" sz="1100" kern="1200" dirty="0"/>
        </a:p>
      </dsp:txBody>
      <dsp:txXfrm>
        <a:off x="0" y="230814"/>
        <a:ext cx="5547794" cy="467775"/>
      </dsp:txXfrm>
    </dsp:sp>
    <dsp:sp modelId="{2F46DCB5-A195-440C-9F8C-E987C4E0FAE4}">
      <dsp:nvSpPr>
        <dsp:cNvPr id="0" name=""/>
        <dsp:cNvSpPr/>
      </dsp:nvSpPr>
      <dsp:spPr>
        <a:xfrm>
          <a:off x="277389" y="75771"/>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US" sz="1100" kern="1200" dirty="0"/>
            <a:t>Bureaucratic resistance / Slow govt approvals</a:t>
          </a:r>
          <a:endParaRPr lang="en-IN" sz="1100" kern="1200" dirty="0"/>
        </a:p>
      </dsp:txBody>
      <dsp:txXfrm>
        <a:off x="293241" y="91623"/>
        <a:ext cx="3851751" cy="293016"/>
      </dsp:txXfrm>
    </dsp:sp>
    <dsp:sp modelId="{49A72C0C-34B8-4A89-8EED-8DF764A612E8}">
      <dsp:nvSpPr>
        <dsp:cNvPr id="0" name=""/>
        <dsp:cNvSpPr/>
      </dsp:nvSpPr>
      <dsp:spPr>
        <a:xfrm>
          <a:off x="0" y="927666"/>
          <a:ext cx="5547794" cy="467775"/>
        </a:xfrm>
        <a:prstGeom prst="rect">
          <a:avLst/>
        </a:prstGeom>
        <a:solidFill>
          <a:srgbClr val="D7E5FF"/>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IN" sz="1100" kern="1200" dirty="0"/>
            <a:t>Voice-to-text submission + Offline mode + Local language UI + Helpline </a:t>
          </a:r>
          <a:r>
            <a:rPr lang="en-IN" sz="1100" kern="1200"/>
            <a:t>support.</a:t>
          </a:r>
          <a:endParaRPr lang="en-IN" sz="1100" kern="1200" dirty="0"/>
        </a:p>
      </dsp:txBody>
      <dsp:txXfrm>
        <a:off x="0" y="927666"/>
        <a:ext cx="5547794" cy="467775"/>
      </dsp:txXfrm>
    </dsp:sp>
    <dsp:sp modelId="{FF4C3F7D-A43E-450E-AD08-21F069B2EC5C}">
      <dsp:nvSpPr>
        <dsp:cNvPr id="0" name=""/>
        <dsp:cNvSpPr/>
      </dsp:nvSpPr>
      <dsp:spPr>
        <a:xfrm>
          <a:off x="277389" y="765306"/>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US" sz="1100" kern="1200" dirty="0"/>
            <a:t>Low digital literacy among citizens</a:t>
          </a:r>
          <a:endParaRPr lang="en-IN" sz="1100" kern="1200" dirty="0"/>
        </a:p>
      </dsp:txBody>
      <dsp:txXfrm>
        <a:off x="293241" y="781158"/>
        <a:ext cx="3851751" cy="293016"/>
      </dsp:txXfrm>
    </dsp:sp>
    <dsp:sp modelId="{0575C91B-DCAF-4186-9767-7915A66608CB}">
      <dsp:nvSpPr>
        <dsp:cNvPr id="0" name=""/>
        <dsp:cNvSpPr/>
      </dsp:nvSpPr>
      <dsp:spPr>
        <a:xfrm>
          <a:off x="0" y="1617201"/>
          <a:ext cx="5547794" cy="623700"/>
        </a:xfrm>
        <a:prstGeom prst="rect">
          <a:avLst/>
        </a:prstGeom>
        <a:solidFill>
          <a:schemeClr val="accent6">
            <a:lumMod val="20000"/>
            <a:lumOff val="8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Sign MOUs with UGC/AICTE - Offer academic credits to students - Mandate for engineering colleges.</a:t>
          </a:r>
          <a:endParaRPr lang="en-IN" sz="1100" kern="1200" dirty="0"/>
        </a:p>
      </dsp:txBody>
      <dsp:txXfrm>
        <a:off x="0" y="1617201"/>
        <a:ext cx="5547794" cy="623700"/>
      </dsp:txXfrm>
    </dsp:sp>
    <dsp:sp modelId="{F431B52D-7295-4DE4-824B-331885D0B004}">
      <dsp:nvSpPr>
        <dsp:cNvPr id="0" name=""/>
        <dsp:cNvSpPr/>
      </dsp:nvSpPr>
      <dsp:spPr>
        <a:xfrm>
          <a:off x="277389" y="1454841"/>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IN" sz="1100" kern="1200" dirty="0"/>
            <a:t>Universities may not participate</a:t>
          </a:r>
        </a:p>
      </dsp:txBody>
      <dsp:txXfrm>
        <a:off x="293241" y="1470693"/>
        <a:ext cx="3851751" cy="293016"/>
      </dsp:txXfrm>
    </dsp:sp>
    <dsp:sp modelId="{2E462DD8-8756-4161-B2CB-8BA7F1028159}">
      <dsp:nvSpPr>
        <dsp:cNvPr id="0" name=""/>
        <dsp:cNvSpPr/>
      </dsp:nvSpPr>
      <dsp:spPr>
        <a:xfrm>
          <a:off x="0" y="2462661"/>
          <a:ext cx="5547794" cy="623700"/>
        </a:xfrm>
        <a:prstGeom prst="rect">
          <a:avLst/>
        </a:prstGeom>
        <a:solidFill>
          <a:srgbClr val="FEF7E5"/>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Start with non-monetary contributions (mentorship, cloud credits) - Show prototype success - Attract funding later.</a:t>
          </a:r>
          <a:endParaRPr lang="en-IN" sz="1100" kern="1200" dirty="0"/>
        </a:p>
      </dsp:txBody>
      <dsp:txXfrm>
        <a:off x="0" y="2462661"/>
        <a:ext cx="5547794" cy="623700"/>
      </dsp:txXfrm>
    </dsp:sp>
    <dsp:sp modelId="{4C002A89-9801-4A0D-B3B0-4C7758A5041E}">
      <dsp:nvSpPr>
        <dsp:cNvPr id="0" name=""/>
        <dsp:cNvSpPr/>
      </dsp:nvSpPr>
      <dsp:spPr>
        <a:xfrm>
          <a:off x="308302" y="2302519"/>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US" sz="1100" kern="1200" dirty="0"/>
            <a:t>Industry partners hesitant to invest</a:t>
          </a:r>
          <a:endParaRPr lang="en-IN" sz="1100" kern="1200" dirty="0"/>
        </a:p>
      </dsp:txBody>
      <dsp:txXfrm>
        <a:off x="324154" y="2318371"/>
        <a:ext cx="3851751" cy="293016"/>
      </dsp:txXfrm>
    </dsp:sp>
    <dsp:sp modelId="{82D8DFCB-65EA-4701-803C-E1351821E5E5}">
      <dsp:nvSpPr>
        <dsp:cNvPr id="0" name=""/>
        <dsp:cNvSpPr/>
      </dsp:nvSpPr>
      <dsp:spPr>
        <a:xfrm>
          <a:off x="0" y="3308121"/>
          <a:ext cx="5547794" cy="467775"/>
        </a:xfrm>
        <a:prstGeom prst="rect">
          <a:avLst/>
        </a:prstGeom>
        <a:solidFill>
          <a:schemeClr val="accent2">
            <a:lumMod val="20000"/>
            <a:lumOff val="8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Human-in-the-Loop - Govt officers always validate/re-route Al </a:t>
          </a:r>
          <a:r>
            <a:rPr lang="en-US" sz="1100" kern="1200"/>
            <a:t>decisions.</a:t>
          </a:r>
          <a:endParaRPr lang="en-IN" sz="1100" kern="1200" dirty="0"/>
        </a:p>
      </dsp:txBody>
      <dsp:txXfrm>
        <a:off x="0" y="3308121"/>
        <a:ext cx="5547794" cy="467775"/>
      </dsp:txXfrm>
    </dsp:sp>
    <dsp:sp modelId="{F3B571ED-9025-47E9-AA15-C1ADCC6CC81D}">
      <dsp:nvSpPr>
        <dsp:cNvPr id="0" name=""/>
        <dsp:cNvSpPr/>
      </dsp:nvSpPr>
      <dsp:spPr>
        <a:xfrm>
          <a:off x="317317" y="3155597"/>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IN" sz="1100" kern="1200" dirty="0"/>
            <a:t>Al misclassification / Wrong routing</a:t>
          </a:r>
        </a:p>
      </dsp:txBody>
      <dsp:txXfrm>
        <a:off x="333169" y="3171449"/>
        <a:ext cx="3851751" cy="293016"/>
      </dsp:txXfrm>
    </dsp:sp>
    <dsp:sp modelId="{A8CA298D-9F49-447E-8291-7ABFC51C48DD}">
      <dsp:nvSpPr>
        <dsp:cNvPr id="0" name=""/>
        <dsp:cNvSpPr/>
      </dsp:nvSpPr>
      <dsp:spPr>
        <a:xfrm>
          <a:off x="0" y="3997656"/>
          <a:ext cx="5547794" cy="467775"/>
        </a:xfrm>
        <a:prstGeom prst="rect">
          <a:avLst/>
        </a:prstGeom>
        <a:solidFill>
          <a:srgbClr val="E8E6FE"/>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Role-based access control + Anonymize personal data + Encrypted cloud storage.</a:t>
          </a:r>
          <a:endParaRPr lang="en-IN" sz="1100" kern="1200" dirty="0"/>
        </a:p>
      </dsp:txBody>
      <dsp:txXfrm>
        <a:off x="0" y="3997656"/>
        <a:ext cx="5547794" cy="467775"/>
      </dsp:txXfrm>
    </dsp:sp>
    <dsp:sp modelId="{4FFD76A8-B5F5-4929-A11D-14DEEB6D5EA1}">
      <dsp:nvSpPr>
        <dsp:cNvPr id="0" name=""/>
        <dsp:cNvSpPr/>
      </dsp:nvSpPr>
      <dsp:spPr>
        <a:xfrm>
          <a:off x="346889" y="3820339"/>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IN" sz="1100" kern="1200" dirty="0"/>
            <a:t>Citizen data privacy concerns</a:t>
          </a:r>
        </a:p>
      </dsp:txBody>
      <dsp:txXfrm>
        <a:off x="362741" y="3836191"/>
        <a:ext cx="3851751" cy="293016"/>
      </dsp:txXfrm>
    </dsp:sp>
    <dsp:sp modelId="{4CE58F14-C455-4162-A581-4071D0F0AA3E}">
      <dsp:nvSpPr>
        <dsp:cNvPr id="0" name=""/>
        <dsp:cNvSpPr/>
      </dsp:nvSpPr>
      <dsp:spPr>
        <a:xfrm>
          <a:off x="0" y="4687191"/>
          <a:ext cx="5547794" cy="623700"/>
        </a:xfrm>
        <a:prstGeom prst="rect">
          <a:avLst/>
        </a:prstGeom>
        <a:solidFill>
          <a:srgbClr val="EBF5FE"/>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0570" tIns="229108" rIns="430570"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Open-Source Repository - All solutions publicly available for replication by other villages/cities.</a:t>
          </a:r>
          <a:endParaRPr lang="en-IN" sz="1100" kern="1200" dirty="0"/>
        </a:p>
      </dsp:txBody>
      <dsp:txXfrm>
        <a:off x="0" y="4687191"/>
        <a:ext cx="5547794" cy="623700"/>
      </dsp:txXfrm>
    </dsp:sp>
    <dsp:sp modelId="{05BE417A-61E9-4E04-A624-F2F0D9584074}">
      <dsp:nvSpPr>
        <dsp:cNvPr id="0" name=""/>
        <dsp:cNvSpPr/>
      </dsp:nvSpPr>
      <dsp:spPr>
        <a:xfrm>
          <a:off x="332826" y="4515352"/>
          <a:ext cx="3883455"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785" tIns="0" rIns="146785" bIns="0" numCol="1" spcCol="1270" anchor="ctr" anchorCtr="0">
          <a:noAutofit/>
        </a:bodyPr>
        <a:lstStyle/>
        <a:p>
          <a:pPr marL="0" lvl="0" indent="0" algn="l" defTabSz="488950">
            <a:lnSpc>
              <a:spcPct val="90000"/>
            </a:lnSpc>
            <a:spcBef>
              <a:spcPct val="0"/>
            </a:spcBef>
            <a:spcAft>
              <a:spcPct val="35000"/>
            </a:spcAft>
            <a:buNone/>
          </a:pPr>
          <a:r>
            <a:rPr lang="en-IN" sz="1100" kern="1200" dirty="0"/>
            <a:t>Project abandonment after prototype</a:t>
          </a:r>
        </a:p>
      </dsp:txBody>
      <dsp:txXfrm>
        <a:off x="348678" y="4531204"/>
        <a:ext cx="3851751"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790738-CFC9-4A5E-8424-6B42AA5706F7}" type="slidenum">
              <a:rPr lang="en-US" smtClean="0"/>
              <a:pPr/>
              <a:t>1</a:t>
            </a:fld>
            <a:endParaRPr lang="en-US"/>
          </a:p>
        </p:txBody>
      </p:sp>
    </p:spTree>
    <p:extLst>
      <p:ext uri="{BB962C8B-B14F-4D97-AF65-F5344CB8AC3E}">
        <p14:creationId xmlns:p14="http://schemas.microsoft.com/office/powerpoint/2010/main" val="95148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B2EA-2FAF-4739-A448-9C8DA8A5DF48}"/>
              </a:ext>
            </a:extLst>
          </p:cNvPr>
          <p:cNvSpPr>
            <a:spLocks noGrp="1"/>
          </p:cNvSpPr>
          <p:nvPr>
            <p:ph type="title"/>
          </p:nvPr>
        </p:nvSpPr>
        <p:spPr>
          <a:xfrm>
            <a:off x="557048" y="367863"/>
            <a:ext cx="11025351" cy="1041562"/>
          </a:xfrm>
        </p:spPr>
        <p:txBody>
          <a:bodyPr/>
          <a:lstStyle/>
          <a:p>
            <a:pPr algn="l"/>
            <a:r>
              <a:rPr lang="en-US" b="1" dirty="0">
                <a:solidFill>
                  <a:schemeClr val="tx2"/>
                </a:solidFill>
                <a:latin typeface="Garamond" panose="02020404030301010803" pitchFamily="18" charset="0"/>
              </a:rPr>
              <a:t>SMART INDIA HACKATHON 2026</a:t>
            </a:r>
            <a:endParaRPr lang="en-IN" dirty="0">
              <a:latin typeface="Garamond" panose="02020404030301010803" pitchFamily="18" charset="0"/>
            </a:endParaRPr>
          </a:p>
        </p:txBody>
      </p:sp>
      <p:sp>
        <p:nvSpPr>
          <p:cNvPr id="3" name="Content Placeholder 2">
            <a:extLst>
              <a:ext uri="{FF2B5EF4-FFF2-40B4-BE49-F238E27FC236}">
                <a16:creationId xmlns:a16="http://schemas.microsoft.com/office/drawing/2014/main" id="{CBECACBE-CEC7-4CFE-8903-92250B5145A5}"/>
              </a:ext>
            </a:extLst>
          </p:cNvPr>
          <p:cNvSpPr>
            <a:spLocks noGrp="1"/>
          </p:cNvSpPr>
          <p:nvPr>
            <p:ph idx="1"/>
          </p:nvPr>
        </p:nvSpPr>
        <p:spPr>
          <a:xfrm>
            <a:off x="395004" y="1574116"/>
            <a:ext cx="10867164" cy="5147361"/>
          </a:xfrm>
        </p:spPr>
        <p:txBody>
          <a:bodyPr/>
          <a:lstStyle/>
          <a:p>
            <a:pPr marL="285750" indent="-285750" algn="just">
              <a:lnSpc>
                <a:spcPct val="20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Problem Statement ID </a:t>
            </a:r>
            <a:r>
              <a:rPr lang="en-US" sz="1800" b="1" dirty="0">
                <a:latin typeface="Arial" panose="020B0604020202020204" pitchFamily="34" charset="0"/>
                <a:cs typeface="Arial" panose="020B0604020202020204" pitchFamily="34" charset="0"/>
              </a:rPr>
              <a:t>– 26043</a:t>
            </a:r>
          </a:p>
          <a:p>
            <a:pPr marL="285750" indent="-285750" algn="just">
              <a:lnSpc>
                <a:spcPct val="15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Problem Statement - </a:t>
            </a:r>
            <a:r>
              <a:rPr lang="en-US" sz="1800" b="1" dirty="0">
                <a:solidFill>
                  <a:schemeClr val="tx1">
                    <a:lumMod val="95000"/>
                    <a:lumOff val="5000"/>
                  </a:schemeClr>
                </a:solidFill>
                <a:latin typeface="Arial" panose="020B0604020202020204" pitchFamily="34" charset="0"/>
                <a:cs typeface="Arial" panose="020B0604020202020204" pitchFamily="34" charset="0"/>
              </a:rPr>
              <a:t>A digital platform to crowdsource societal challenges and facilitate collaborative problem solving through universities and industry partnerships.</a:t>
            </a:r>
          </a:p>
          <a:p>
            <a:pPr marL="285750" indent="-285750" algn="just">
              <a:lnSpc>
                <a:spcPct val="20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Theme</a:t>
            </a:r>
            <a:r>
              <a:rPr lang="en-US" sz="1800" b="1" dirty="0">
                <a:latin typeface="Arial" panose="020B0604020202020204" pitchFamily="34" charset="0"/>
                <a:cs typeface="Arial" panose="020B0604020202020204" pitchFamily="34" charset="0"/>
              </a:rPr>
              <a:t>- Smart Education </a:t>
            </a:r>
          </a:p>
          <a:p>
            <a:pPr marL="285750" indent="-285750" algn="just">
              <a:lnSpc>
                <a:spcPct val="20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PS Category- </a:t>
            </a:r>
            <a:r>
              <a:rPr lang="en-US" sz="1800" b="1"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Team Name- </a:t>
            </a:r>
            <a:endParaRPr lang="en-IN" sz="18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394006A-4533-4E2F-B70D-7C03354A769D}"/>
              </a:ext>
            </a:extLst>
          </p:cNvPr>
          <p:cNvSpPr>
            <a:spLocks noGrp="1"/>
          </p:cNvSpPr>
          <p:nvPr>
            <p:ph type="sldNum" sz="quarter" idx="12"/>
          </p:nvPr>
        </p:nvSpPr>
        <p:spPr/>
        <p:txBody>
          <a:bodyPr/>
          <a:lstStyle/>
          <a:p>
            <a:fld id="{677C3CE7-23F7-4828-823C-E0205DF2CF97}" type="slidenum">
              <a:rPr lang="en-US" smtClean="0"/>
              <a:pPr/>
              <a:t>1</a:t>
            </a:fld>
            <a:endParaRPr lang="en-US"/>
          </a:p>
        </p:txBody>
      </p:sp>
      <p:pic>
        <p:nvPicPr>
          <p:cNvPr id="6" name="Picture 5">
            <a:extLst>
              <a:ext uri="{FF2B5EF4-FFF2-40B4-BE49-F238E27FC236}">
                <a16:creationId xmlns:a16="http://schemas.microsoft.com/office/drawing/2014/main" id="{7544E66F-F5E8-4F72-B403-A1BD26572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2757" y="462183"/>
            <a:ext cx="2249850" cy="1062337"/>
          </a:xfrm>
          <a:prstGeom prst="rect">
            <a:avLst/>
          </a:prstGeom>
        </p:spPr>
      </p:pic>
      <p:pic>
        <p:nvPicPr>
          <p:cNvPr id="7" name="Picture 6">
            <a:extLst>
              <a:ext uri="{FF2B5EF4-FFF2-40B4-BE49-F238E27FC236}">
                <a16:creationId xmlns:a16="http://schemas.microsoft.com/office/drawing/2014/main" id="{205154CD-DEB4-4D08-9673-981EC0C458E0}"/>
              </a:ext>
            </a:extLst>
          </p:cNvPr>
          <p:cNvPicPr>
            <a:picLocks noChangeAspect="1"/>
          </p:cNvPicPr>
          <p:nvPr/>
        </p:nvPicPr>
        <p:blipFill rotWithShape="1">
          <a:blip r:embed="rId4"/>
          <a:srcRect r="59916"/>
          <a:stretch/>
        </p:blipFill>
        <p:spPr>
          <a:xfrm>
            <a:off x="8304119" y="3063876"/>
            <a:ext cx="3711762" cy="3475039"/>
          </a:xfrm>
          <a:prstGeom prst="rect">
            <a:avLst/>
          </a:prstGeom>
        </p:spPr>
      </p:pic>
    </p:spTree>
    <p:extLst>
      <p:ext uri="{BB962C8B-B14F-4D97-AF65-F5344CB8AC3E}">
        <p14:creationId xmlns:p14="http://schemas.microsoft.com/office/powerpoint/2010/main" val="708235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1171A3-341A-42C6-BD84-EE569C678551}"/>
              </a:ext>
            </a:extLst>
          </p:cNvPr>
          <p:cNvSpPr>
            <a:spLocks noGrp="1"/>
          </p:cNvSpPr>
          <p:nvPr>
            <p:ph type="sldNum" sz="quarter" idx="12"/>
          </p:nvPr>
        </p:nvSpPr>
        <p:spPr/>
        <p:txBody>
          <a:bodyPr/>
          <a:lstStyle/>
          <a:p>
            <a:fld id="{B635AFB3-1ACD-44AC-8702-86B1729DF035}" type="slidenum">
              <a:rPr lang="en-US" smtClean="0"/>
              <a:pPr/>
              <a:t>2</a:t>
            </a:fld>
            <a:endParaRPr lang="en-US"/>
          </a:p>
        </p:txBody>
      </p:sp>
      <p:sp>
        <p:nvSpPr>
          <p:cNvPr id="9" name="Rectangle 8">
            <a:extLst>
              <a:ext uri="{FF2B5EF4-FFF2-40B4-BE49-F238E27FC236}">
                <a16:creationId xmlns:a16="http://schemas.microsoft.com/office/drawing/2014/main" id="{52DC130E-A144-4968-A50F-B2974AEF8E11}"/>
              </a:ext>
            </a:extLst>
          </p:cNvPr>
          <p:cNvSpPr/>
          <p:nvPr/>
        </p:nvSpPr>
        <p:spPr>
          <a:xfrm>
            <a:off x="620987" y="724148"/>
            <a:ext cx="4656082" cy="27221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ABB8969B-7CA1-4B28-AFFD-9AC6A94CF85A}"/>
              </a:ext>
            </a:extLst>
          </p:cNvPr>
          <p:cNvSpPr txBox="1"/>
          <p:nvPr/>
        </p:nvSpPr>
        <p:spPr>
          <a:xfrm>
            <a:off x="609600" y="767477"/>
            <a:ext cx="4845269" cy="2554545"/>
          </a:xfrm>
          <a:prstGeom prst="rect">
            <a:avLst/>
          </a:prstGeom>
          <a:noFill/>
        </p:spPr>
        <p:txBody>
          <a:bodyPr wrap="square" rtlCol="0">
            <a:spAutoFit/>
          </a:bodyPr>
          <a:lstStyle/>
          <a:p>
            <a:pPr rtl="0"/>
            <a:r>
              <a:rPr lang="en-IN" sz="1000" b="1" dirty="0">
                <a:solidFill>
                  <a:srgbClr val="FF0000"/>
                </a:solidFill>
              </a:rPr>
              <a:t>Core Issue</a:t>
            </a:r>
            <a:br>
              <a:rPr lang="en-IN" sz="1000" dirty="0">
                <a:solidFill>
                  <a:schemeClr val="tx1"/>
                </a:solidFill>
              </a:rPr>
            </a:br>
            <a:r>
              <a:rPr lang="en-IN" sz="1000" dirty="0">
                <a:solidFill>
                  <a:schemeClr val="tx1"/>
                </a:solidFill>
              </a:rPr>
              <a:t>Citizens can identify and report societal problems — but there is no structured, intelligence-driven mechanism that converts those problems into verified, technically matched, collaboratively developed, and deployable solutions.</a:t>
            </a:r>
          </a:p>
          <a:p>
            <a:pPr rtl="0">
              <a:buFont typeface="Wingdings" pitchFamily="2" charset="2"/>
              <a:buChar char="§"/>
            </a:pPr>
            <a:r>
              <a:rPr lang="en-IN" sz="1000" dirty="0">
                <a:solidFill>
                  <a:schemeClr val="tx1"/>
                </a:solidFill>
              </a:rPr>
              <a:t> </a:t>
            </a:r>
            <a:r>
              <a:rPr lang="en-IN" sz="1000" b="1" dirty="0">
                <a:solidFill>
                  <a:srgbClr val="FF0000"/>
                </a:solidFill>
              </a:rPr>
              <a:t>No Structured Mechanism</a:t>
            </a:r>
            <a:r>
              <a:rPr lang="en-IN" sz="1000" dirty="0">
                <a:solidFill>
                  <a:srgbClr val="FF0000"/>
                </a:solidFill>
              </a:rPr>
              <a:t> </a:t>
            </a:r>
            <a:r>
              <a:rPr lang="en-IN" sz="1000" dirty="0">
                <a:solidFill>
                  <a:schemeClr val="tx1"/>
                </a:solidFill>
              </a:rPr>
              <a:t>– Citizens report issues, but there's no centralized platform to submit, verify, and track them systematically.</a:t>
            </a:r>
          </a:p>
          <a:p>
            <a:pPr rtl="0">
              <a:buFont typeface="Wingdings" pitchFamily="2" charset="2"/>
              <a:buChar char="§"/>
            </a:pPr>
            <a:r>
              <a:rPr lang="en-IN" sz="1000" dirty="0">
                <a:solidFill>
                  <a:schemeClr val="tx1"/>
                </a:solidFill>
              </a:rPr>
              <a:t> </a:t>
            </a:r>
            <a:r>
              <a:rPr lang="en-IN" sz="1000" b="1" dirty="0">
                <a:solidFill>
                  <a:srgbClr val="FF0000"/>
                </a:solidFill>
              </a:rPr>
              <a:t>Broken Root-Cause Chain</a:t>
            </a:r>
            <a:r>
              <a:rPr lang="en-IN" sz="1000" dirty="0">
                <a:solidFill>
                  <a:srgbClr val="FF0000"/>
                </a:solidFill>
              </a:rPr>
              <a:t> </a:t>
            </a:r>
            <a:r>
              <a:rPr lang="en-IN" sz="1000" dirty="0">
                <a:solidFill>
                  <a:schemeClr val="tx1"/>
                </a:solidFill>
              </a:rPr>
              <a:t>– Problems go unstructured → department unclear → technical need unidentified → no matched expertise → no solution owner → no field validation.</a:t>
            </a:r>
          </a:p>
          <a:p>
            <a:pPr rtl="0">
              <a:buFont typeface="Wingdings" pitchFamily="2" charset="2"/>
              <a:buChar char="§"/>
            </a:pPr>
            <a:r>
              <a:rPr lang="en-IN" sz="1000" dirty="0">
                <a:solidFill>
                  <a:schemeClr val="tx1"/>
                </a:solidFill>
              </a:rPr>
              <a:t> </a:t>
            </a:r>
            <a:r>
              <a:rPr lang="en-IN" sz="1000" b="1" dirty="0">
                <a:solidFill>
                  <a:srgbClr val="FF0000"/>
                </a:solidFill>
              </a:rPr>
              <a:t>Fragmented Collaboration</a:t>
            </a:r>
            <a:r>
              <a:rPr lang="en-IN" sz="1000" dirty="0">
                <a:solidFill>
                  <a:srgbClr val="FF0000"/>
                </a:solidFill>
              </a:rPr>
              <a:t> </a:t>
            </a:r>
            <a:r>
              <a:rPr lang="en-IN" sz="1000" dirty="0">
                <a:solidFill>
                  <a:schemeClr val="tx1"/>
                </a:solidFill>
              </a:rPr>
              <a:t>– Universities (research + student talent) and industries (funding + mentorship) exist, but stay disconnected from real citizen problems.</a:t>
            </a:r>
          </a:p>
          <a:p>
            <a:pPr rtl="0">
              <a:buFont typeface="Wingdings" pitchFamily="2" charset="2"/>
              <a:buChar char="§"/>
            </a:pPr>
            <a:r>
              <a:rPr lang="en-IN" sz="1000" dirty="0">
                <a:solidFill>
                  <a:schemeClr val="tx1"/>
                </a:solidFill>
              </a:rPr>
              <a:t> </a:t>
            </a:r>
            <a:r>
              <a:rPr lang="en-IN" sz="1000" b="1" dirty="0">
                <a:solidFill>
                  <a:srgbClr val="FF0000"/>
                </a:solidFill>
              </a:rPr>
              <a:t>The Gap Is Connection, Not Capacity</a:t>
            </a:r>
            <a:r>
              <a:rPr lang="en-IN" sz="1000" dirty="0">
                <a:solidFill>
                  <a:srgbClr val="FF0000"/>
                </a:solidFill>
              </a:rPr>
              <a:t> </a:t>
            </a:r>
            <a:r>
              <a:rPr lang="en-IN" sz="1000" dirty="0">
                <a:solidFill>
                  <a:schemeClr val="tx1"/>
                </a:solidFill>
              </a:rPr>
              <a:t>– Citizen problems: high. Government routing: fragmented. University expertise: available. Industry capability: available. </a:t>
            </a:r>
            <a:r>
              <a:rPr lang="en-IN" sz="1000" b="1" dirty="0">
                <a:solidFill>
                  <a:schemeClr val="tx1"/>
                </a:solidFill>
              </a:rPr>
              <a:t>Connection: missing.</a:t>
            </a:r>
            <a:endParaRPr lang="en-IN" sz="1000" dirty="0">
              <a:solidFill>
                <a:schemeClr val="tx1"/>
              </a:solidFill>
            </a:endParaRPr>
          </a:p>
          <a:p>
            <a:pPr rtl="0">
              <a:buFont typeface="Wingdings" pitchFamily="2" charset="2"/>
              <a:buChar char="§"/>
            </a:pPr>
            <a:r>
              <a:rPr lang="en-IN" sz="1000" dirty="0">
                <a:solidFill>
                  <a:schemeClr val="tx1"/>
                </a:solidFill>
              </a:rPr>
              <a:t> </a:t>
            </a:r>
            <a:r>
              <a:rPr lang="en-IN" sz="1000" b="1" dirty="0">
                <a:solidFill>
                  <a:srgbClr val="FF0000"/>
                </a:solidFill>
              </a:rPr>
              <a:t>Policy-Execution Gap (NEP 2020)</a:t>
            </a:r>
            <a:r>
              <a:rPr lang="en-IN" sz="1000" dirty="0">
                <a:solidFill>
                  <a:srgbClr val="FF0000"/>
                </a:solidFill>
              </a:rPr>
              <a:t> </a:t>
            </a:r>
            <a:r>
              <a:rPr lang="en-IN" sz="1000" dirty="0">
                <a:solidFill>
                  <a:schemeClr val="tx1"/>
                </a:solidFill>
              </a:rPr>
              <a:t>– NEP pushes experiential learning &amp; community engagement, but no mechanism executes it at scale.</a:t>
            </a:r>
          </a:p>
        </p:txBody>
      </p:sp>
      <p:sp>
        <p:nvSpPr>
          <p:cNvPr id="10" name="Rectangle 9">
            <a:extLst>
              <a:ext uri="{FF2B5EF4-FFF2-40B4-BE49-F238E27FC236}">
                <a16:creationId xmlns:a16="http://schemas.microsoft.com/office/drawing/2014/main" id="{5FDA580A-AD34-4092-923A-361F91484C95}"/>
              </a:ext>
            </a:extLst>
          </p:cNvPr>
          <p:cNvSpPr/>
          <p:nvPr/>
        </p:nvSpPr>
        <p:spPr>
          <a:xfrm>
            <a:off x="619238" y="3911421"/>
            <a:ext cx="4656082" cy="260142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F5396D1D-1CB0-4A2A-8227-ED52C98BBA52}"/>
              </a:ext>
            </a:extLst>
          </p:cNvPr>
          <p:cNvSpPr txBox="1"/>
          <p:nvPr/>
        </p:nvSpPr>
        <p:spPr>
          <a:xfrm>
            <a:off x="609600" y="3959958"/>
            <a:ext cx="4487917" cy="2862322"/>
          </a:xfrm>
          <a:prstGeom prst="rect">
            <a:avLst/>
          </a:prstGeom>
          <a:noFill/>
        </p:spPr>
        <p:txBody>
          <a:bodyPr wrap="square" rtlCol="0">
            <a:spAutoFit/>
          </a:bodyPr>
          <a:lstStyle/>
          <a:p>
            <a:pPr rtl="0"/>
            <a:r>
              <a:rPr lang="en-IN" sz="900" dirty="0">
                <a:solidFill>
                  <a:srgbClr val="FF0000"/>
                </a:solidFill>
                <a:latin typeface="+mn-lt"/>
                <a:ea typeface="+mn-ea"/>
                <a:cs typeface="+mn-cs"/>
              </a:rPr>
              <a:t>➢</a:t>
            </a:r>
            <a:r>
              <a:rPr lang="en-IN" sz="900" dirty="0">
                <a:solidFill>
                  <a:schemeClr val="tx1"/>
                </a:solidFill>
                <a:latin typeface="+mn-lt"/>
                <a:ea typeface="+mn-ea"/>
                <a:cs typeface="+mn-cs"/>
              </a:rPr>
              <a:t> </a:t>
            </a:r>
            <a:r>
              <a:rPr lang="en-IN" sz="900" b="1" dirty="0">
                <a:solidFill>
                  <a:srgbClr val="FF0000"/>
                </a:solidFill>
                <a:latin typeface="+mn-lt"/>
                <a:ea typeface="+mn-ea"/>
                <a:cs typeface="+mn-cs"/>
              </a:rPr>
              <a:t>AI-Powered Problem Pipeline</a:t>
            </a:r>
            <a:br>
              <a:rPr lang="en-IN" sz="900" dirty="0">
                <a:solidFill>
                  <a:schemeClr val="tx1"/>
                </a:solidFill>
                <a:latin typeface="+mn-lt"/>
                <a:ea typeface="+mn-ea"/>
                <a:cs typeface="+mn-cs"/>
              </a:rPr>
            </a:br>
            <a:r>
              <a:rPr lang="en-IN" sz="900" dirty="0">
                <a:solidFill>
                  <a:schemeClr val="tx1"/>
                </a:solidFill>
                <a:latin typeface="+mn-lt"/>
                <a:ea typeface="+mn-ea"/>
                <a:cs typeface="+mn-cs"/>
              </a:rPr>
              <a:t>Our solution lets citizens submit local issues through a mobile or web app, complete with photos, videos, location data, and a detailed description. An AI engine automatically categorizes each problem into the right domain — education, agriculture, healthcare, and more — and tags the technical expertise it will need. This removes the guesswork of routing and ensures no citizen-reported issue is lost in the system.</a:t>
            </a:r>
            <a:endParaRPr lang="en-IN" sz="900" dirty="0">
              <a:solidFill>
                <a:schemeClr val="tx1"/>
              </a:solidFill>
            </a:endParaRPr>
          </a:p>
          <a:p>
            <a:pPr rtl="0"/>
            <a:r>
              <a:rPr lang="en-IN" sz="900" dirty="0">
                <a:solidFill>
                  <a:srgbClr val="FF0000"/>
                </a:solidFill>
                <a:latin typeface="+mn-lt"/>
                <a:ea typeface="+mn-ea"/>
                <a:cs typeface="+mn-cs"/>
              </a:rPr>
              <a:t>➢</a:t>
            </a:r>
            <a:r>
              <a:rPr lang="en-IN" sz="900" dirty="0">
                <a:solidFill>
                  <a:schemeClr val="tx1"/>
                </a:solidFill>
                <a:latin typeface="+mn-lt"/>
                <a:ea typeface="+mn-ea"/>
                <a:cs typeface="+mn-cs"/>
              </a:rPr>
              <a:t> </a:t>
            </a:r>
            <a:r>
              <a:rPr lang="en-IN" sz="900" b="1" dirty="0">
                <a:solidFill>
                  <a:srgbClr val="FF0000"/>
                </a:solidFill>
                <a:latin typeface="+mn-lt"/>
                <a:ea typeface="+mn-ea"/>
                <a:cs typeface="+mn-cs"/>
              </a:rPr>
              <a:t>Government-Validated Routing</a:t>
            </a:r>
            <a:br>
              <a:rPr lang="en-IN" sz="900" dirty="0">
                <a:solidFill>
                  <a:schemeClr val="tx1"/>
                </a:solidFill>
                <a:latin typeface="+mn-lt"/>
                <a:ea typeface="+mn-ea"/>
                <a:cs typeface="+mn-cs"/>
              </a:rPr>
            </a:br>
            <a:r>
              <a:rPr lang="en-IN" sz="900" dirty="0">
                <a:solidFill>
                  <a:schemeClr val="tx1"/>
                </a:solidFill>
                <a:latin typeface="+mn-lt"/>
                <a:ea typeface="+mn-ea"/>
                <a:cs typeface="+mn-cs"/>
              </a:rPr>
              <a:t>Once categorized, issues are sent to government officers who validate the AI's classification, approving it or re-routing it to the correct department. The AI then queries a centralized database to match the problem with universities holding relevant academic expertise, and automatically notifies them with a project brief — closing the gap between real-world problems and research capacity.</a:t>
            </a:r>
            <a:endParaRPr lang="en-IN" sz="900" dirty="0">
              <a:solidFill>
                <a:schemeClr val="tx1"/>
              </a:solidFill>
            </a:endParaRPr>
          </a:p>
          <a:p>
            <a:pPr rtl="0"/>
            <a:r>
              <a:rPr lang="en-IN" sz="900" dirty="0">
                <a:solidFill>
                  <a:srgbClr val="FF0000"/>
                </a:solidFill>
                <a:latin typeface="+mn-lt"/>
                <a:ea typeface="+mn-ea"/>
                <a:cs typeface="+mn-cs"/>
              </a:rPr>
              <a:t>➢ </a:t>
            </a:r>
            <a:r>
              <a:rPr lang="en-IN" sz="900" b="1" dirty="0">
                <a:solidFill>
                  <a:srgbClr val="FF0000"/>
                </a:solidFill>
                <a:latin typeface="+mn-lt"/>
                <a:ea typeface="+mn-ea"/>
                <a:cs typeface="+mn-cs"/>
              </a:rPr>
              <a:t>University–Industry Collaboration</a:t>
            </a:r>
            <a:br>
              <a:rPr lang="en-IN" sz="900" dirty="0">
                <a:solidFill>
                  <a:schemeClr val="lt1"/>
                </a:solidFill>
                <a:latin typeface="+mn-lt"/>
                <a:ea typeface="+mn-ea"/>
                <a:cs typeface="+mn-cs"/>
              </a:rPr>
            </a:br>
            <a:r>
              <a:rPr lang="en-IN" sz="900" dirty="0">
                <a:solidFill>
                  <a:schemeClr val="tx1"/>
                </a:solidFill>
                <a:latin typeface="+mn-lt"/>
                <a:ea typeface="+mn-ea"/>
                <a:cs typeface="+mn-cs"/>
              </a:rPr>
              <a:t>Universities accept challenges, assign faculty leads and student teams, and draft actionable technical proposals. Industry partners join through the same portal to contribute mentorship, funding, and rapid prototyping support, while an Open Knowledge Page lets researchers, experts, and citizens explore ongoing challenges and add crowdsourced insights</a:t>
            </a:r>
            <a:r>
              <a:rPr lang="en-IN" sz="900" dirty="0">
                <a:solidFill>
                  <a:schemeClr val="tx1"/>
                </a:solidFill>
              </a:rPr>
              <a:t>.</a:t>
            </a:r>
          </a:p>
          <a:p>
            <a:pPr rtl="0"/>
            <a:endParaRPr lang="en-IN" sz="1800" dirty="0">
              <a:solidFill>
                <a:schemeClr val="tx1"/>
              </a:solidFill>
              <a:latin typeface="+mn-lt"/>
              <a:ea typeface="+mn-ea"/>
              <a:cs typeface="+mn-cs"/>
            </a:endParaRPr>
          </a:p>
        </p:txBody>
      </p:sp>
      <p:sp>
        <p:nvSpPr>
          <p:cNvPr id="11" name="TextBox 10">
            <a:extLst>
              <a:ext uri="{FF2B5EF4-FFF2-40B4-BE49-F238E27FC236}">
                <a16:creationId xmlns:a16="http://schemas.microsoft.com/office/drawing/2014/main" id="{3A80941F-2C33-4DA8-A1AE-C827B2A714D2}"/>
              </a:ext>
            </a:extLst>
          </p:cNvPr>
          <p:cNvSpPr txBox="1"/>
          <p:nvPr/>
        </p:nvSpPr>
        <p:spPr>
          <a:xfrm>
            <a:off x="1225330" y="360981"/>
            <a:ext cx="3310759" cy="369332"/>
          </a:xfrm>
          <a:prstGeom prst="rect">
            <a:avLst/>
          </a:prstGeom>
          <a:noFill/>
        </p:spPr>
        <p:txBody>
          <a:bodyPr wrap="square" rtlCol="0">
            <a:spAutoFit/>
          </a:bodyPr>
          <a:lstStyle/>
          <a:p>
            <a:r>
              <a:rPr lang="en-US" b="1" u="sng" dirty="0">
                <a:solidFill>
                  <a:schemeClr val="tx2">
                    <a:lumMod val="50000"/>
                  </a:schemeClr>
                </a:solidFill>
              </a:rPr>
              <a:t>CHALLENGES AND PROBLEMS</a:t>
            </a:r>
            <a:endParaRPr lang="en-IN" b="1" u="sng" dirty="0">
              <a:solidFill>
                <a:schemeClr val="tx2">
                  <a:lumMod val="50000"/>
                </a:schemeClr>
              </a:solidFill>
            </a:endParaRPr>
          </a:p>
        </p:txBody>
      </p:sp>
      <p:sp>
        <p:nvSpPr>
          <p:cNvPr id="12" name="TextBox 11">
            <a:extLst>
              <a:ext uri="{FF2B5EF4-FFF2-40B4-BE49-F238E27FC236}">
                <a16:creationId xmlns:a16="http://schemas.microsoft.com/office/drawing/2014/main" id="{08C3CA80-4620-49D7-85C0-D9A691948660}"/>
              </a:ext>
            </a:extLst>
          </p:cNvPr>
          <p:cNvSpPr txBox="1"/>
          <p:nvPr/>
        </p:nvSpPr>
        <p:spPr>
          <a:xfrm>
            <a:off x="1476702" y="3536372"/>
            <a:ext cx="2690649" cy="369332"/>
          </a:xfrm>
          <a:prstGeom prst="rect">
            <a:avLst/>
          </a:prstGeom>
          <a:noFill/>
        </p:spPr>
        <p:txBody>
          <a:bodyPr wrap="square" rtlCol="0">
            <a:spAutoFit/>
          </a:bodyPr>
          <a:lstStyle/>
          <a:p>
            <a:r>
              <a:rPr lang="en-US" b="1" u="sng" dirty="0">
                <a:solidFill>
                  <a:schemeClr val="tx2">
                    <a:lumMod val="50000"/>
                  </a:schemeClr>
                </a:solidFill>
              </a:rPr>
              <a:t>PROPOSED SOLUTION</a:t>
            </a:r>
            <a:endParaRPr lang="en-IN" b="1" u="sng" dirty="0">
              <a:solidFill>
                <a:schemeClr val="tx2">
                  <a:lumMod val="50000"/>
                </a:schemeClr>
              </a:solidFill>
            </a:endParaRPr>
          </a:p>
        </p:txBody>
      </p:sp>
      <p:sp>
        <p:nvSpPr>
          <p:cNvPr id="13" name="Rectangle 12">
            <a:extLst>
              <a:ext uri="{FF2B5EF4-FFF2-40B4-BE49-F238E27FC236}">
                <a16:creationId xmlns:a16="http://schemas.microsoft.com/office/drawing/2014/main" id="{1E254A0F-E167-45AD-9CAE-609EBB15DEEE}"/>
              </a:ext>
            </a:extLst>
          </p:cNvPr>
          <p:cNvSpPr/>
          <p:nvPr/>
        </p:nvSpPr>
        <p:spPr>
          <a:xfrm>
            <a:off x="6096000" y="725214"/>
            <a:ext cx="2081048" cy="1807779"/>
          </a:xfrm>
          <a:prstGeom prst="rect">
            <a:avLst/>
          </a:prstGeom>
          <a:solidFill>
            <a:schemeClr val="accent2">
              <a:lumMod val="20000"/>
              <a:lumOff val="80000"/>
            </a:schemeClr>
          </a:solidFill>
          <a:ln>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CDB02946-AB09-47A8-8AD4-53F47C7FA7D1}"/>
              </a:ext>
            </a:extLst>
          </p:cNvPr>
          <p:cNvCxnSpPr>
            <a:cxnSpLocks/>
          </p:cNvCxnSpPr>
          <p:nvPr/>
        </p:nvCxnSpPr>
        <p:spPr>
          <a:xfrm>
            <a:off x="6096000" y="1208690"/>
            <a:ext cx="2081048" cy="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68B3A1E3-4235-4E35-B4AB-3BB7A08AF4D4}"/>
              </a:ext>
            </a:extLst>
          </p:cNvPr>
          <p:cNvSpPr/>
          <p:nvPr/>
        </p:nvSpPr>
        <p:spPr>
          <a:xfrm>
            <a:off x="6087240" y="2722290"/>
            <a:ext cx="2081048" cy="1807779"/>
          </a:xfrm>
          <a:prstGeom prst="rect">
            <a:avLst/>
          </a:prstGeom>
          <a:solidFill>
            <a:srgbClr val="D0D8E8"/>
          </a:solidFill>
          <a:ln>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8" name="Rectangle 17">
            <a:extLst>
              <a:ext uri="{FF2B5EF4-FFF2-40B4-BE49-F238E27FC236}">
                <a16:creationId xmlns:a16="http://schemas.microsoft.com/office/drawing/2014/main" id="{2C12F426-CF74-474D-BBB0-39BB7951E153}"/>
              </a:ext>
            </a:extLst>
          </p:cNvPr>
          <p:cNvSpPr/>
          <p:nvPr/>
        </p:nvSpPr>
        <p:spPr>
          <a:xfrm>
            <a:off x="6096000" y="4745420"/>
            <a:ext cx="2081048" cy="1807779"/>
          </a:xfrm>
          <a:prstGeom prst="rect">
            <a:avLst/>
          </a:prstGeom>
          <a:solidFill>
            <a:srgbClr val="D9F5DC"/>
          </a:solidFill>
          <a:ln w="19050">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9" name="Rectangle 18">
            <a:extLst>
              <a:ext uri="{FF2B5EF4-FFF2-40B4-BE49-F238E27FC236}">
                <a16:creationId xmlns:a16="http://schemas.microsoft.com/office/drawing/2014/main" id="{738878A5-2DBF-43C3-A0C6-18F94266F39D}"/>
              </a:ext>
            </a:extLst>
          </p:cNvPr>
          <p:cNvSpPr/>
          <p:nvPr/>
        </p:nvSpPr>
        <p:spPr>
          <a:xfrm>
            <a:off x="8457322" y="725213"/>
            <a:ext cx="2081048" cy="1807779"/>
          </a:xfrm>
          <a:prstGeom prst="rect">
            <a:avLst/>
          </a:prstGeom>
          <a:solidFill>
            <a:schemeClr val="accent3">
              <a:lumMod val="20000"/>
              <a:lumOff val="80000"/>
            </a:schemeClr>
          </a:solidFill>
          <a:ln>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0" name="Rectangle 19">
            <a:extLst>
              <a:ext uri="{FF2B5EF4-FFF2-40B4-BE49-F238E27FC236}">
                <a16:creationId xmlns:a16="http://schemas.microsoft.com/office/drawing/2014/main" id="{623C404C-1C57-400D-B88D-381FE68A4EC0}"/>
              </a:ext>
            </a:extLst>
          </p:cNvPr>
          <p:cNvSpPr/>
          <p:nvPr/>
        </p:nvSpPr>
        <p:spPr>
          <a:xfrm>
            <a:off x="8457322" y="2722290"/>
            <a:ext cx="2081048" cy="1807779"/>
          </a:xfrm>
          <a:prstGeom prst="rect">
            <a:avLst/>
          </a:prstGeom>
          <a:solidFill>
            <a:srgbClr val="CEDCFD"/>
          </a:solidFill>
          <a:ln>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1" name="Rectangle 20">
            <a:extLst>
              <a:ext uri="{FF2B5EF4-FFF2-40B4-BE49-F238E27FC236}">
                <a16:creationId xmlns:a16="http://schemas.microsoft.com/office/drawing/2014/main" id="{AB63A212-ADB7-43C4-AEDE-4C5037E4EEBB}"/>
              </a:ext>
            </a:extLst>
          </p:cNvPr>
          <p:cNvSpPr/>
          <p:nvPr/>
        </p:nvSpPr>
        <p:spPr>
          <a:xfrm>
            <a:off x="8457322" y="4719367"/>
            <a:ext cx="2081048" cy="1807779"/>
          </a:xfrm>
          <a:prstGeom prst="rect">
            <a:avLst/>
          </a:prstGeom>
          <a:solidFill>
            <a:schemeClr val="accent1">
              <a:lumMod val="20000"/>
              <a:lumOff val="80000"/>
            </a:schemeClr>
          </a:solidFill>
          <a:ln>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cxnSp>
        <p:nvCxnSpPr>
          <p:cNvPr id="24" name="Straight Connector 23">
            <a:extLst>
              <a:ext uri="{FF2B5EF4-FFF2-40B4-BE49-F238E27FC236}">
                <a16:creationId xmlns:a16="http://schemas.microsoft.com/office/drawing/2014/main" id="{114BF27C-3ED2-4522-9651-623958A21193}"/>
              </a:ext>
            </a:extLst>
          </p:cNvPr>
          <p:cNvCxnSpPr>
            <a:cxnSpLocks/>
          </p:cNvCxnSpPr>
          <p:nvPr/>
        </p:nvCxnSpPr>
        <p:spPr>
          <a:xfrm>
            <a:off x="6096000" y="3200401"/>
            <a:ext cx="20810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06182DD-25A6-48B7-8CDA-4FA093BAA596}"/>
              </a:ext>
            </a:extLst>
          </p:cNvPr>
          <p:cNvCxnSpPr>
            <a:cxnSpLocks/>
          </p:cNvCxnSpPr>
          <p:nvPr/>
        </p:nvCxnSpPr>
        <p:spPr>
          <a:xfrm>
            <a:off x="8457322" y="1208690"/>
            <a:ext cx="20810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318019A-5833-4BD1-8040-076C67AED7A8}"/>
              </a:ext>
            </a:extLst>
          </p:cNvPr>
          <p:cNvCxnSpPr>
            <a:cxnSpLocks/>
          </p:cNvCxnSpPr>
          <p:nvPr/>
        </p:nvCxnSpPr>
        <p:spPr>
          <a:xfrm>
            <a:off x="8457322" y="3237188"/>
            <a:ext cx="20810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5829AC5-39FC-4F1C-B916-51DC53D20523}"/>
              </a:ext>
            </a:extLst>
          </p:cNvPr>
          <p:cNvCxnSpPr>
            <a:cxnSpLocks/>
          </p:cNvCxnSpPr>
          <p:nvPr/>
        </p:nvCxnSpPr>
        <p:spPr>
          <a:xfrm>
            <a:off x="6087240" y="5249918"/>
            <a:ext cx="2081048" cy="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06DDAB8-1F2D-4F2F-90B6-E1965584DBA4}"/>
              </a:ext>
            </a:extLst>
          </p:cNvPr>
          <p:cNvCxnSpPr>
            <a:cxnSpLocks/>
          </p:cNvCxnSpPr>
          <p:nvPr/>
        </p:nvCxnSpPr>
        <p:spPr>
          <a:xfrm>
            <a:off x="8457322" y="5249918"/>
            <a:ext cx="2081048" cy="0"/>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8466717-BC38-4A4D-847A-FEB459ED0F76}"/>
              </a:ext>
            </a:extLst>
          </p:cNvPr>
          <p:cNvSpPr txBox="1"/>
          <p:nvPr/>
        </p:nvSpPr>
        <p:spPr>
          <a:xfrm>
            <a:off x="6106510" y="787164"/>
            <a:ext cx="2221185" cy="338554"/>
          </a:xfrm>
          <a:prstGeom prst="rect">
            <a:avLst/>
          </a:prstGeom>
          <a:noFill/>
        </p:spPr>
        <p:txBody>
          <a:bodyPr wrap="square" rtlCol="0">
            <a:spAutoFit/>
          </a:bodyPr>
          <a:lstStyle/>
          <a:p>
            <a:r>
              <a:rPr lang="en-IN" sz="1600" b="1" dirty="0">
                <a:solidFill>
                  <a:schemeClr val="tx2">
                    <a:lumMod val="75000"/>
                  </a:schemeClr>
                </a:solidFill>
              </a:rPr>
              <a:t>Multi-Modal Reporting</a:t>
            </a:r>
          </a:p>
        </p:txBody>
      </p:sp>
      <p:sp>
        <p:nvSpPr>
          <p:cNvPr id="30" name="TextBox 29">
            <a:extLst>
              <a:ext uri="{FF2B5EF4-FFF2-40B4-BE49-F238E27FC236}">
                <a16:creationId xmlns:a16="http://schemas.microsoft.com/office/drawing/2014/main" id="{A75D4E05-F9C0-4A2D-9217-8D3C182F326B}"/>
              </a:ext>
            </a:extLst>
          </p:cNvPr>
          <p:cNvSpPr txBox="1"/>
          <p:nvPr/>
        </p:nvSpPr>
        <p:spPr>
          <a:xfrm>
            <a:off x="8567680" y="797677"/>
            <a:ext cx="1860331" cy="338550"/>
          </a:xfrm>
          <a:prstGeom prst="rect">
            <a:avLst/>
          </a:prstGeom>
          <a:noFill/>
        </p:spPr>
        <p:txBody>
          <a:bodyPr wrap="square" rtlCol="0">
            <a:spAutoFit/>
          </a:bodyPr>
          <a:lstStyle/>
          <a:p>
            <a:r>
              <a:rPr lang="en-IN" sz="1600" b="1" dirty="0">
                <a:solidFill>
                  <a:schemeClr val="tx2">
                    <a:lumMod val="75000"/>
                  </a:schemeClr>
                </a:solidFill>
              </a:rPr>
              <a:t>AI Understanding</a:t>
            </a:r>
          </a:p>
        </p:txBody>
      </p:sp>
      <p:sp>
        <p:nvSpPr>
          <p:cNvPr id="31" name="TextBox 30">
            <a:extLst>
              <a:ext uri="{FF2B5EF4-FFF2-40B4-BE49-F238E27FC236}">
                <a16:creationId xmlns:a16="http://schemas.microsoft.com/office/drawing/2014/main" id="{1321F742-F8E3-4B3D-B26E-863384A365C4}"/>
              </a:ext>
            </a:extLst>
          </p:cNvPr>
          <p:cNvSpPr txBox="1"/>
          <p:nvPr/>
        </p:nvSpPr>
        <p:spPr>
          <a:xfrm>
            <a:off x="6097750" y="2682398"/>
            <a:ext cx="2070538" cy="584775"/>
          </a:xfrm>
          <a:prstGeom prst="rect">
            <a:avLst/>
          </a:prstGeom>
          <a:noFill/>
        </p:spPr>
        <p:txBody>
          <a:bodyPr wrap="square" rtlCol="0">
            <a:spAutoFit/>
          </a:bodyPr>
          <a:lstStyle/>
          <a:p>
            <a:r>
              <a:rPr lang="en-IN" sz="1600" b="1" dirty="0">
                <a:solidFill>
                  <a:schemeClr val="tx2">
                    <a:lumMod val="75000"/>
                  </a:schemeClr>
                </a:solidFill>
              </a:rPr>
              <a:t>Duplicate Detection &amp; Smart Routing</a:t>
            </a:r>
          </a:p>
        </p:txBody>
      </p:sp>
      <p:sp>
        <p:nvSpPr>
          <p:cNvPr id="32" name="TextBox 31">
            <a:extLst>
              <a:ext uri="{FF2B5EF4-FFF2-40B4-BE49-F238E27FC236}">
                <a16:creationId xmlns:a16="http://schemas.microsoft.com/office/drawing/2014/main" id="{D115272B-4C8E-475C-810F-B7C3F6EAE051}"/>
              </a:ext>
            </a:extLst>
          </p:cNvPr>
          <p:cNvSpPr txBox="1"/>
          <p:nvPr/>
        </p:nvSpPr>
        <p:spPr>
          <a:xfrm>
            <a:off x="8558919" y="2670094"/>
            <a:ext cx="1842816" cy="584775"/>
          </a:xfrm>
          <a:prstGeom prst="rect">
            <a:avLst/>
          </a:prstGeom>
          <a:noFill/>
        </p:spPr>
        <p:txBody>
          <a:bodyPr wrap="square" rtlCol="0">
            <a:spAutoFit/>
          </a:bodyPr>
          <a:lstStyle/>
          <a:p>
            <a:r>
              <a:rPr lang="en-IN" sz="1600" b="1" dirty="0">
                <a:solidFill>
                  <a:schemeClr val="tx2">
                    <a:lumMod val="75000"/>
                  </a:schemeClr>
                </a:solidFill>
              </a:rPr>
              <a:t>Human Verification &amp; Smart Routing</a:t>
            </a:r>
          </a:p>
        </p:txBody>
      </p:sp>
      <p:sp>
        <p:nvSpPr>
          <p:cNvPr id="33" name="TextBox 32">
            <a:extLst>
              <a:ext uri="{FF2B5EF4-FFF2-40B4-BE49-F238E27FC236}">
                <a16:creationId xmlns:a16="http://schemas.microsoft.com/office/drawing/2014/main" id="{A77EC12E-CA70-4F8D-946B-C357EC7E5378}"/>
              </a:ext>
            </a:extLst>
          </p:cNvPr>
          <p:cNvSpPr txBox="1"/>
          <p:nvPr/>
        </p:nvSpPr>
        <p:spPr>
          <a:xfrm>
            <a:off x="6106510" y="4790310"/>
            <a:ext cx="2105574" cy="338554"/>
          </a:xfrm>
          <a:prstGeom prst="rect">
            <a:avLst/>
          </a:prstGeom>
          <a:noFill/>
        </p:spPr>
        <p:txBody>
          <a:bodyPr wrap="square" rtlCol="0">
            <a:spAutoFit/>
          </a:bodyPr>
          <a:lstStyle/>
          <a:p>
            <a:r>
              <a:rPr lang="en-IN" sz="1600" b="1" dirty="0">
                <a:solidFill>
                  <a:schemeClr val="tx2">
                    <a:lumMod val="75000"/>
                  </a:schemeClr>
                </a:solidFill>
              </a:rPr>
              <a:t>Innovation Ecosystem</a:t>
            </a:r>
          </a:p>
        </p:txBody>
      </p:sp>
      <p:sp>
        <p:nvSpPr>
          <p:cNvPr id="34" name="TextBox 33">
            <a:extLst>
              <a:ext uri="{FF2B5EF4-FFF2-40B4-BE49-F238E27FC236}">
                <a16:creationId xmlns:a16="http://schemas.microsoft.com/office/drawing/2014/main" id="{05CF4765-738F-42C2-AF52-1D21268BD361}"/>
              </a:ext>
            </a:extLst>
          </p:cNvPr>
          <p:cNvSpPr txBox="1"/>
          <p:nvPr/>
        </p:nvSpPr>
        <p:spPr>
          <a:xfrm>
            <a:off x="8567680" y="4667199"/>
            <a:ext cx="1860331" cy="584775"/>
          </a:xfrm>
          <a:prstGeom prst="rect">
            <a:avLst/>
          </a:prstGeom>
          <a:noFill/>
        </p:spPr>
        <p:txBody>
          <a:bodyPr wrap="square" rtlCol="0">
            <a:spAutoFit/>
          </a:bodyPr>
          <a:lstStyle/>
          <a:p>
            <a:r>
              <a:rPr lang="en-IN" sz="1600" b="1" dirty="0">
                <a:solidFill>
                  <a:schemeClr val="tx2">
                    <a:lumMod val="75000"/>
                  </a:schemeClr>
                </a:solidFill>
              </a:rPr>
              <a:t>Solution Impact Tracking</a:t>
            </a:r>
          </a:p>
        </p:txBody>
      </p:sp>
      <p:sp>
        <p:nvSpPr>
          <p:cNvPr id="35" name="TextBox 34">
            <a:extLst>
              <a:ext uri="{FF2B5EF4-FFF2-40B4-BE49-F238E27FC236}">
                <a16:creationId xmlns:a16="http://schemas.microsoft.com/office/drawing/2014/main" id="{E42589B2-8BE1-4937-9D63-A58FA4454807}"/>
              </a:ext>
            </a:extLst>
          </p:cNvPr>
          <p:cNvSpPr txBox="1"/>
          <p:nvPr/>
        </p:nvSpPr>
        <p:spPr>
          <a:xfrm>
            <a:off x="6181833" y="1292772"/>
            <a:ext cx="1848070" cy="1200329"/>
          </a:xfrm>
          <a:prstGeom prst="rect">
            <a:avLst/>
          </a:prstGeom>
          <a:noFill/>
        </p:spPr>
        <p:txBody>
          <a:bodyPr wrap="square" rtlCol="0">
            <a:spAutoFit/>
          </a:bodyPr>
          <a:lstStyle/>
          <a:p>
            <a:r>
              <a:rPr lang="en-IN" sz="1200" dirty="0"/>
              <a:t>📷 Photo Evidence</a:t>
            </a:r>
          </a:p>
          <a:p>
            <a:r>
              <a:rPr lang="en-IN" sz="1200" dirty="0"/>
              <a:t>🎙️ Voice Recording</a:t>
            </a:r>
          </a:p>
          <a:p>
            <a:r>
              <a:rPr lang="en-IN" sz="1200" dirty="0"/>
              <a:t>📝 Text Description</a:t>
            </a:r>
          </a:p>
          <a:p>
            <a:r>
              <a:rPr lang="en-IN" sz="1200" dirty="0"/>
              <a:t>📍 GPS Geo-Tagging</a:t>
            </a:r>
          </a:p>
          <a:p>
            <a:r>
              <a:rPr lang="en-IN" sz="1200" dirty="0"/>
              <a:t>🌐 Local Language        Support</a:t>
            </a:r>
          </a:p>
        </p:txBody>
      </p:sp>
      <p:sp>
        <p:nvSpPr>
          <p:cNvPr id="38" name="TextBox 37">
            <a:extLst>
              <a:ext uri="{FF2B5EF4-FFF2-40B4-BE49-F238E27FC236}">
                <a16:creationId xmlns:a16="http://schemas.microsoft.com/office/drawing/2014/main" id="{43CD89AB-98DA-4EA9-92D9-76E335D4F36D}"/>
              </a:ext>
            </a:extLst>
          </p:cNvPr>
          <p:cNvSpPr txBox="1"/>
          <p:nvPr/>
        </p:nvSpPr>
        <p:spPr>
          <a:xfrm>
            <a:off x="8410024" y="1178405"/>
            <a:ext cx="2175642" cy="1384995"/>
          </a:xfrm>
          <a:prstGeom prst="rect">
            <a:avLst/>
          </a:prstGeom>
          <a:noFill/>
        </p:spPr>
        <p:txBody>
          <a:bodyPr wrap="square" rtlCol="0">
            <a:spAutoFit/>
          </a:bodyPr>
          <a:lstStyle/>
          <a:p>
            <a:r>
              <a:rPr lang="en-IN" sz="1200" dirty="0"/>
              <a:t>🎙️ Speech-to-Text</a:t>
            </a:r>
          </a:p>
          <a:p>
            <a:r>
              <a:rPr lang="en-IN" sz="1200" dirty="0"/>
              <a:t>🧠 NLP-based Problem Understanding</a:t>
            </a:r>
          </a:p>
          <a:p>
            <a:r>
              <a:rPr lang="en-IN" sz="1200" dirty="0"/>
              <a:t>👁️ Image/Visual Analysis</a:t>
            </a:r>
          </a:p>
          <a:p>
            <a:r>
              <a:rPr lang="en-IN" sz="1200" dirty="0"/>
              <a:t>🏷️ Problem Category Detection</a:t>
            </a:r>
          </a:p>
          <a:p>
            <a:r>
              <a:rPr lang="en-IN" sz="1200" dirty="0"/>
              <a:t>🏛️ Smart Department Routing</a:t>
            </a:r>
          </a:p>
        </p:txBody>
      </p:sp>
      <p:sp>
        <p:nvSpPr>
          <p:cNvPr id="39" name="TextBox 38">
            <a:extLst>
              <a:ext uri="{FF2B5EF4-FFF2-40B4-BE49-F238E27FC236}">
                <a16:creationId xmlns:a16="http://schemas.microsoft.com/office/drawing/2014/main" id="{6FADAC14-09CB-4B67-865C-CEFA17C15D8C}"/>
              </a:ext>
            </a:extLst>
          </p:cNvPr>
          <p:cNvSpPr txBox="1"/>
          <p:nvPr/>
        </p:nvSpPr>
        <p:spPr>
          <a:xfrm>
            <a:off x="6033810" y="3179331"/>
            <a:ext cx="2221185" cy="1384995"/>
          </a:xfrm>
          <a:prstGeom prst="rect">
            <a:avLst/>
          </a:prstGeom>
          <a:noFill/>
        </p:spPr>
        <p:txBody>
          <a:bodyPr wrap="square" rtlCol="0">
            <a:spAutoFit/>
          </a:bodyPr>
          <a:lstStyle/>
          <a:p>
            <a:r>
              <a:rPr lang="en-IN" sz="1200" dirty="0"/>
              <a:t>🔍 Similar Problem Detection</a:t>
            </a:r>
          </a:p>
          <a:p>
            <a:r>
              <a:rPr lang="en-IN" sz="1200" dirty="0"/>
              <a:t>📍 Location-Based Matching</a:t>
            </a:r>
          </a:p>
          <a:p>
            <a:r>
              <a:rPr lang="en-IN" sz="1200" dirty="0"/>
              <a:t>🔗 Duplicate Reports → Master Problem</a:t>
            </a:r>
          </a:p>
          <a:p>
            <a:r>
              <a:rPr lang="en-IN" sz="1200" dirty="0"/>
              <a:t>🏛️ Correct Department Identification</a:t>
            </a:r>
          </a:p>
          <a:p>
            <a:r>
              <a:rPr lang="en-IN" sz="1200" dirty="0"/>
              <a:t>⚡ Automatic Problem Routing</a:t>
            </a:r>
          </a:p>
        </p:txBody>
      </p:sp>
      <p:sp>
        <p:nvSpPr>
          <p:cNvPr id="40" name="TextBox 39">
            <a:extLst>
              <a:ext uri="{FF2B5EF4-FFF2-40B4-BE49-F238E27FC236}">
                <a16:creationId xmlns:a16="http://schemas.microsoft.com/office/drawing/2014/main" id="{046FFF80-3BEC-4FF4-A950-D8B57217B8BA}"/>
              </a:ext>
            </a:extLst>
          </p:cNvPr>
          <p:cNvSpPr txBox="1"/>
          <p:nvPr/>
        </p:nvSpPr>
        <p:spPr>
          <a:xfrm>
            <a:off x="8438050" y="3213639"/>
            <a:ext cx="2221185" cy="1384995"/>
          </a:xfrm>
          <a:prstGeom prst="rect">
            <a:avLst/>
          </a:prstGeom>
          <a:noFill/>
        </p:spPr>
        <p:txBody>
          <a:bodyPr wrap="square" rtlCol="0">
            <a:spAutoFit/>
          </a:bodyPr>
          <a:lstStyle/>
          <a:p>
            <a:r>
              <a:rPr lang="en-US" sz="1200" dirty="0"/>
              <a:t>👤 Node Officer Verification</a:t>
            </a:r>
          </a:p>
          <a:p>
            <a:r>
              <a:rPr lang="en-US" sz="1200" dirty="0"/>
              <a:t>✅ Validates AI Classification</a:t>
            </a:r>
          </a:p>
          <a:p>
            <a:r>
              <a:rPr lang="en-US" sz="1200" dirty="0"/>
              <a:t>🏛️ Routes to Correct Department</a:t>
            </a:r>
          </a:p>
          <a:p>
            <a:r>
              <a:rPr lang="en-US" sz="1200" dirty="0"/>
              <a:t>🎓 Diverts to Relevant University/Industry</a:t>
            </a:r>
          </a:p>
          <a:p>
            <a:r>
              <a:rPr lang="en-US" sz="1200" dirty="0"/>
              <a:t>🔄 Re-routes if Required</a:t>
            </a:r>
            <a:endParaRPr lang="en-IN" sz="1200" dirty="0"/>
          </a:p>
        </p:txBody>
      </p:sp>
      <p:sp>
        <p:nvSpPr>
          <p:cNvPr id="43" name="TextBox 42">
            <a:extLst>
              <a:ext uri="{FF2B5EF4-FFF2-40B4-BE49-F238E27FC236}">
                <a16:creationId xmlns:a16="http://schemas.microsoft.com/office/drawing/2014/main" id="{3E90A043-6997-4A86-A65F-A3474819012C}"/>
              </a:ext>
            </a:extLst>
          </p:cNvPr>
          <p:cNvSpPr txBox="1"/>
          <p:nvPr/>
        </p:nvSpPr>
        <p:spPr>
          <a:xfrm>
            <a:off x="8431045" y="5248874"/>
            <a:ext cx="1996966" cy="1200329"/>
          </a:xfrm>
          <a:prstGeom prst="rect">
            <a:avLst/>
          </a:prstGeom>
          <a:noFill/>
        </p:spPr>
        <p:txBody>
          <a:bodyPr wrap="square" rtlCol="0">
            <a:spAutoFit/>
          </a:bodyPr>
          <a:lstStyle/>
          <a:p>
            <a:r>
              <a:rPr lang="en-IN" sz="1200" dirty="0"/>
              <a:t>📊 Solution Progress</a:t>
            </a:r>
          </a:p>
          <a:p>
            <a:r>
              <a:rPr lang="en-IN" sz="1200" dirty="0"/>
              <a:t>📍 Ground-Level Outcome</a:t>
            </a:r>
          </a:p>
          <a:p>
            <a:r>
              <a:rPr lang="en-IN" sz="1200" dirty="0"/>
              <a:t>🧑‍🤝‍🧑 Citizen Feedback</a:t>
            </a:r>
          </a:p>
          <a:p>
            <a:r>
              <a:rPr lang="en-IN" sz="1200" dirty="0"/>
              <a:t>✅ Problem Resolution</a:t>
            </a:r>
          </a:p>
          <a:p>
            <a:r>
              <a:rPr lang="en-IN" sz="1200" dirty="0"/>
              <a:t>🔄 Successful Solutions → Replication</a:t>
            </a:r>
          </a:p>
        </p:txBody>
      </p:sp>
      <p:sp>
        <p:nvSpPr>
          <p:cNvPr id="44" name="TextBox 43">
            <a:extLst>
              <a:ext uri="{FF2B5EF4-FFF2-40B4-BE49-F238E27FC236}">
                <a16:creationId xmlns:a16="http://schemas.microsoft.com/office/drawing/2014/main" id="{6D6B96A4-39E7-4E8F-B7A9-AF306970732D}"/>
              </a:ext>
            </a:extLst>
          </p:cNvPr>
          <p:cNvSpPr txBox="1"/>
          <p:nvPr/>
        </p:nvSpPr>
        <p:spPr>
          <a:xfrm>
            <a:off x="6181832" y="5248874"/>
            <a:ext cx="2112578" cy="1200329"/>
          </a:xfrm>
          <a:prstGeom prst="rect">
            <a:avLst/>
          </a:prstGeom>
          <a:noFill/>
        </p:spPr>
        <p:txBody>
          <a:bodyPr wrap="square" rtlCol="0">
            <a:spAutoFit/>
          </a:bodyPr>
          <a:lstStyle/>
          <a:p>
            <a:r>
              <a:rPr lang="en-US" sz="1200" dirty="0"/>
              <a:t>University Expertise🏭 Industry Collaboration🏛️ Government Departments</a:t>
            </a:r>
          </a:p>
          <a:p>
            <a:r>
              <a:rPr lang="en-US" sz="1200" dirty="0"/>
              <a:t>💡Problem → Solution </a:t>
            </a:r>
          </a:p>
          <a:p>
            <a:r>
              <a:rPr lang="en-US" sz="1200" dirty="0"/>
              <a:t>                        Co-creation</a:t>
            </a:r>
          </a:p>
          <a:p>
            <a:r>
              <a:rPr lang="en-US" sz="1200" dirty="0"/>
              <a:t>🤝 Citizen Participation</a:t>
            </a:r>
            <a:endParaRPr lang="en-IN" sz="1200" dirty="0"/>
          </a:p>
        </p:txBody>
      </p:sp>
      <p:sp>
        <p:nvSpPr>
          <p:cNvPr id="45" name="TextBox 44">
            <a:extLst>
              <a:ext uri="{FF2B5EF4-FFF2-40B4-BE49-F238E27FC236}">
                <a16:creationId xmlns:a16="http://schemas.microsoft.com/office/drawing/2014/main" id="{12AD15B2-8E2C-41D9-A289-3990C9D80E78}"/>
              </a:ext>
            </a:extLst>
          </p:cNvPr>
          <p:cNvSpPr txBox="1"/>
          <p:nvPr/>
        </p:nvSpPr>
        <p:spPr>
          <a:xfrm>
            <a:off x="6286936" y="270733"/>
            <a:ext cx="4340771" cy="369332"/>
          </a:xfrm>
          <a:prstGeom prst="rect">
            <a:avLst/>
          </a:prstGeom>
          <a:noFill/>
        </p:spPr>
        <p:txBody>
          <a:bodyPr wrap="square" rtlCol="0">
            <a:spAutoFit/>
          </a:bodyPr>
          <a:lstStyle/>
          <a:p>
            <a:r>
              <a:rPr lang="en-US" b="1" u="sng" dirty="0">
                <a:solidFill>
                  <a:schemeClr val="tx2">
                    <a:lumMod val="50000"/>
                  </a:schemeClr>
                </a:solidFill>
              </a:rPr>
              <a:t>INNOVATION AND UNIQUENESS</a:t>
            </a:r>
            <a:endParaRPr lang="en-IN" b="1" u="sng" dirty="0">
              <a:solidFill>
                <a:schemeClr val="tx2">
                  <a:lumMod val="50000"/>
                </a:schemeClr>
              </a:solidFill>
            </a:endParaRPr>
          </a:p>
        </p:txBody>
      </p:sp>
    </p:spTree>
    <p:extLst>
      <p:ext uri="{BB962C8B-B14F-4D97-AF65-F5344CB8AC3E}">
        <p14:creationId xmlns:p14="http://schemas.microsoft.com/office/powerpoint/2010/main" val="421851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162064" y="31473"/>
            <a:ext cx="1478006" cy="65164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graphicFrame>
        <p:nvGraphicFramePr>
          <p:cNvPr id="7" name="Diagram 6">
            <a:extLst>
              <a:ext uri="{FF2B5EF4-FFF2-40B4-BE49-F238E27FC236}">
                <a16:creationId xmlns:a16="http://schemas.microsoft.com/office/drawing/2014/main" id="{D31A93C8-5528-4992-A362-181466771944}"/>
              </a:ext>
            </a:extLst>
          </p:cNvPr>
          <p:cNvGraphicFramePr/>
          <p:nvPr>
            <p:extLst>
              <p:ext uri="{D42A27DB-BD31-4B8C-83A1-F6EECF244321}">
                <p14:modId xmlns:p14="http://schemas.microsoft.com/office/powerpoint/2010/main" val="1221675148"/>
              </p:ext>
            </p:extLst>
          </p:nvPr>
        </p:nvGraphicFramePr>
        <p:xfrm>
          <a:off x="6096000" y="1334814"/>
          <a:ext cx="5547794" cy="53866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DB3E8775-164F-43FA-98BE-E1B16FB415E8}"/>
              </a:ext>
            </a:extLst>
          </p:cNvPr>
          <p:cNvSpPr txBox="1"/>
          <p:nvPr/>
        </p:nvSpPr>
        <p:spPr>
          <a:xfrm>
            <a:off x="6161025" y="683114"/>
            <a:ext cx="3834313" cy="646331"/>
          </a:xfrm>
          <a:prstGeom prst="rect">
            <a:avLst/>
          </a:prstGeom>
          <a:noFill/>
        </p:spPr>
        <p:txBody>
          <a:bodyPr wrap="square" rtlCol="0">
            <a:spAutoFit/>
          </a:bodyPr>
          <a:lstStyle/>
          <a:p>
            <a:r>
              <a:rPr lang="en-US" sz="1800" b="1" u="sng" dirty="0">
                <a:solidFill>
                  <a:schemeClr val="tx2">
                    <a:lumMod val="75000"/>
                  </a:schemeClr>
                </a:solidFill>
                <a:latin typeface="Times New Roman" panose="02020603050405020304" pitchFamily="18" charset="0"/>
                <a:ea typeface="ＭＳ Ｐゴシック" pitchFamily="1" charset="-128"/>
                <a:cs typeface="Times New Roman" panose="02020603050405020304" pitchFamily="18" charset="0"/>
              </a:rPr>
              <a:t>POTENTIAL CHALLENGE AND OUR MITIGATION STRATERGY</a:t>
            </a:r>
            <a:endParaRPr lang="en-IN" b="1" u="sng" dirty="0">
              <a:solidFill>
                <a:schemeClr val="tx2">
                  <a:lumMod val="75000"/>
                </a:schemeClr>
              </a:solidFill>
            </a:endParaRPr>
          </a:p>
        </p:txBody>
      </p:sp>
      <p:graphicFrame>
        <p:nvGraphicFramePr>
          <p:cNvPr id="51" name="Table 51">
            <a:extLst>
              <a:ext uri="{FF2B5EF4-FFF2-40B4-BE49-F238E27FC236}">
                <a16:creationId xmlns:a16="http://schemas.microsoft.com/office/drawing/2014/main" id="{44E0EDC6-1BEA-4E48-BC37-0CF88B15D96A}"/>
              </a:ext>
            </a:extLst>
          </p:cNvPr>
          <p:cNvGraphicFramePr>
            <a:graphicFrameLocks noGrp="1"/>
          </p:cNvGraphicFramePr>
          <p:nvPr>
            <p:extLst>
              <p:ext uri="{D42A27DB-BD31-4B8C-83A1-F6EECF244321}">
                <p14:modId xmlns:p14="http://schemas.microsoft.com/office/powerpoint/2010/main" val="2084396131"/>
              </p:ext>
            </p:extLst>
          </p:nvPr>
        </p:nvGraphicFramePr>
        <p:xfrm>
          <a:off x="406400" y="4013903"/>
          <a:ext cx="5268686" cy="2607220"/>
        </p:xfrm>
        <a:graphic>
          <a:graphicData uri="http://schemas.openxmlformats.org/drawingml/2006/table">
            <a:tbl>
              <a:tblPr firstRow="1" bandRow="1">
                <a:tableStyleId>{5C22544A-7EE6-4342-B048-85BDC9FD1C3A}</a:tableStyleId>
              </a:tblPr>
              <a:tblGrid>
                <a:gridCol w="1185098">
                  <a:extLst>
                    <a:ext uri="{9D8B030D-6E8A-4147-A177-3AD203B41FA5}">
                      <a16:colId xmlns:a16="http://schemas.microsoft.com/office/drawing/2014/main" val="3037331657"/>
                    </a:ext>
                  </a:extLst>
                </a:gridCol>
                <a:gridCol w="4083588">
                  <a:extLst>
                    <a:ext uri="{9D8B030D-6E8A-4147-A177-3AD203B41FA5}">
                      <a16:colId xmlns:a16="http://schemas.microsoft.com/office/drawing/2014/main" val="2270604064"/>
                    </a:ext>
                  </a:extLst>
                </a:gridCol>
              </a:tblGrid>
              <a:tr h="369508">
                <a:tc>
                  <a:txBody>
                    <a:bodyPr/>
                    <a:lstStyle/>
                    <a:p>
                      <a:r>
                        <a:rPr lang="en-IN" sz="1200" b="1" dirty="0"/>
                        <a:t>Viability Type</a:t>
                      </a:r>
                      <a:endParaRPr lang="en-IN" sz="1200" dirty="0"/>
                    </a:p>
                  </a:txBody>
                  <a:tcPr anchor="ctr">
                    <a:solidFill>
                      <a:srgbClr val="0070C0"/>
                    </a:solidFill>
                  </a:tcPr>
                </a:tc>
                <a:tc>
                  <a:txBody>
                    <a:bodyPr/>
                    <a:lstStyle/>
                    <a:p>
                      <a:r>
                        <a:rPr lang="en-IN" sz="1200" b="1" dirty="0"/>
                        <a:t>Our Approach</a:t>
                      </a:r>
                      <a:endParaRPr lang="en-IN" sz="1200" dirty="0"/>
                    </a:p>
                  </a:txBody>
                  <a:tcPr anchor="ctr">
                    <a:solidFill>
                      <a:srgbClr val="0070C0"/>
                    </a:solidFill>
                  </a:tcPr>
                </a:tc>
                <a:extLst>
                  <a:ext uri="{0D108BD9-81ED-4DB2-BD59-A6C34878D82A}">
                    <a16:rowId xmlns:a16="http://schemas.microsoft.com/office/drawing/2014/main" val="3560941103"/>
                  </a:ext>
                </a:extLst>
              </a:tr>
              <a:tr h="658795">
                <a:tc>
                  <a:txBody>
                    <a:bodyPr/>
                    <a:lstStyle/>
                    <a:p>
                      <a:r>
                        <a:rPr lang="en-IN" sz="1200" b="1"/>
                        <a:t>Financial</a:t>
                      </a:r>
                      <a:endParaRPr lang="en-IN" sz="1200"/>
                    </a:p>
                  </a:txBody>
                  <a:tcPr anchor="ctr"/>
                </a:tc>
                <a:tc>
                  <a:txBody>
                    <a:bodyPr/>
                    <a:lstStyle/>
                    <a:p>
                      <a:r>
                        <a:rPr lang="en-US" sz="1200" b="1" dirty="0"/>
                        <a:t>Hybrid Revenue Model:</a:t>
                      </a:r>
                      <a:r>
                        <a:rPr lang="en-US" sz="1200" dirty="0"/>
                        <a:t> Govt grants (initial) + Industry CSR contributions (operational) + SaaS licensing to other states (scaling).</a:t>
                      </a:r>
                    </a:p>
                  </a:txBody>
                  <a:tcPr anchor="ctr"/>
                </a:tc>
                <a:extLst>
                  <a:ext uri="{0D108BD9-81ED-4DB2-BD59-A6C34878D82A}">
                    <a16:rowId xmlns:a16="http://schemas.microsoft.com/office/drawing/2014/main" val="2183567443"/>
                  </a:ext>
                </a:extLst>
              </a:tr>
              <a:tr h="637781">
                <a:tc>
                  <a:txBody>
                    <a:bodyPr/>
                    <a:lstStyle/>
                    <a:p>
                      <a:r>
                        <a:rPr lang="en-IN" sz="1200" b="1"/>
                        <a:t>Social</a:t>
                      </a:r>
                      <a:endParaRPr lang="en-IN" sz="1200"/>
                    </a:p>
                  </a:txBody>
                  <a:tcPr anchor="ctr"/>
                </a:tc>
                <a:tc>
                  <a:txBody>
                    <a:bodyPr/>
                    <a:lstStyle/>
                    <a:p>
                      <a:r>
                        <a:rPr lang="en-US" sz="1200" dirty="0"/>
                        <a:t>Directly impacts SDGs (Quality Edu, Clean Water, Good Health). High citizen engagement due to transparency.</a:t>
                      </a:r>
                    </a:p>
                  </a:txBody>
                  <a:tcPr anchor="ctr"/>
                </a:tc>
                <a:extLst>
                  <a:ext uri="{0D108BD9-81ED-4DB2-BD59-A6C34878D82A}">
                    <a16:rowId xmlns:a16="http://schemas.microsoft.com/office/drawing/2014/main" val="359480996"/>
                  </a:ext>
                </a:extLst>
              </a:tr>
              <a:tr h="470568">
                <a:tc>
                  <a:txBody>
                    <a:bodyPr/>
                    <a:lstStyle/>
                    <a:p>
                      <a:r>
                        <a:rPr lang="en-IN" sz="1200" b="1"/>
                        <a:t>Scalability</a:t>
                      </a:r>
                      <a:endParaRPr lang="en-IN" sz="1200"/>
                    </a:p>
                  </a:txBody>
                  <a:tcPr anchor="ctr"/>
                </a:tc>
                <a:tc>
                  <a:txBody>
                    <a:bodyPr/>
                    <a:lstStyle/>
                    <a:p>
                      <a:r>
                        <a:rPr lang="en-US" sz="1200"/>
                        <a:t>Designed as a plug-and-play model—can be replicated in any state/UT with minimal changes.</a:t>
                      </a:r>
                    </a:p>
                  </a:txBody>
                  <a:tcPr anchor="ctr"/>
                </a:tc>
                <a:extLst>
                  <a:ext uri="{0D108BD9-81ED-4DB2-BD59-A6C34878D82A}">
                    <a16:rowId xmlns:a16="http://schemas.microsoft.com/office/drawing/2014/main" val="1426445182"/>
                  </a:ext>
                </a:extLst>
              </a:tr>
              <a:tr h="470568">
                <a:tc>
                  <a:txBody>
                    <a:bodyPr/>
                    <a:lstStyle/>
                    <a:p>
                      <a:r>
                        <a:rPr lang="en-IN" sz="1200" b="1"/>
                        <a:t>Policy Fit</a:t>
                      </a:r>
                      <a:endParaRPr lang="en-IN" sz="1200"/>
                    </a:p>
                  </a:txBody>
                  <a:tcPr anchor="ctr"/>
                </a:tc>
                <a:tc>
                  <a:txBody>
                    <a:bodyPr/>
                    <a:lstStyle/>
                    <a:p>
                      <a:r>
                        <a:rPr lang="en-US" sz="1200" dirty="0"/>
                        <a:t>100% aligned with </a:t>
                      </a:r>
                      <a:r>
                        <a:rPr lang="en-US" sz="1200" b="1" dirty="0"/>
                        <a:t>NEP 2020</a:t>
                      </a:r>
                      <a:r>
                        <a:rPr lang="en-US" sz="1200" dirty="0"/>
                        <a:t> (experiential learning) and </a:t>
                      </a:r>
                      <a:r>
                        <a:rPr lang="en-US" sz="1200" b="1" dirty="0"/>
                        <a:t>Digital India</a:t>
                      </a:r>
                      <a:r>
                        <a:rPr lang="en-US" sz="1200" dirty="0"/>
                        <a:t> vision.</a:t>
                      </a:r>
                    </a:p>
                  </a:txBody>
                  <a:tcPr anchor="ctr"/>
                </a:tc>
                <a:extLst>
                  <a:ext uri="{0D108BD9-81ED-4DB2-BD59-A6C34878D82A}">
                    <a16:rowId xmlns:a16="http://schemas.microsoft.com/office/drawing/2014/main" val="3952498554"/>
                  </a:ext>
                </a:extLst>
              </a:tr>
            </a:tbl>
          </a:graphicData>
        </a:graphic>
      </p:graphicFrame>
      <p:graphicFrame>
        <p:nvGraphicFramePr>
          <p:cNvPr id="52" name="Table 51">
            <a:extLst>
              <a:ext uri="{FF2B5EF4-FFF2-40B4-BE49-F238E27FC236}">
                <a16:creationId xmlns:a16="http://schemas.microsoft.com/office/drawing/2014/main" id="{88C7153B-B83C-440F-8F7D-D7526B48D4C3}"/>
              </a:ext>
            </a:extLst>
          </p:cNvPr>
          <p:cNvGraphicFramePr>
            <a:graphicFrameLocks noGrp="1"/>
          </p:cNvGraphicFramePr>
          <p:nvPr/>
        </p:nvGraphicFramePr>
        <p:xfrm>
          <a:off x="13890171" y="972457"/>
          <a:ext cx="208280" cy="365760"/>
        </p:xfrm>
        <a:graphic>
          <a:graphicData uri="http://schemas.openxmlformats.org/drawingml/2006/table">
            <a:tbl>
              <a:tblPr/>
              <a:tblGrid>
                <a:gridCol w="208280">
                  <a:extLst>
                    <a:ext uri="{9D8B030D-6E8A-4147-A177-3AD203B41FA5}">
                      <a16:colId xmlns:a16="http://schemas.microsoft.com/office/drawing/2014/main" val="1044885458"/>
                    </a:ext>
                  </a:extLst>
                </a:gridCol>
              </a:tblGrid>
              <a:tr h="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775573390"/>
                  </a:ext>
                </a:extLst>
              </a:tr>
            </a:tbl>
          </a:graphicData>
        </a:graphic>
      </p:graphicFrame>
      <p:graphicFrame>
        <p:nvGraphicFramePr>
          <p:cNvPr id="56" name="Table 51">
            <a:extLst>
              <a:ext uri="{FF2B5EF4-FFF2-40B4-BE49-F238E27FC236}">
                <a16:creationId xmlns:a16="http://schemas.microsoft.com/office/drawing/2014/main" id="{1DE364C6-812E-4300-B848-F444102646BE}"/>
              </a:ext>
            </a:extLst>
          </p:cNvPr>
          <p:cNvGraphicFramePr>
            <a:graphicFrameLocks noGrp="1"/>
          </p:cNvGraphicFramePr>
          <p:nvPr>
            <p:extLst>
              <p:ext uri="{D42A27DB-BD31-4B8C-83A1-F6EECF244321}">
                <p14:modId xmlns:p14="http://schemas.microsoft.com/office/powerpoint/2010/main" val="1515008298"/>
              </p:ext>
            </p:extLst>
          </p:nvPr>
        </p:nvGraphicFramePr>
        <p:xfrm>
          <a:off x="406400" y="841830"/>
          <a:ext cx="5268686" cy="2383146"/>
        </p:xfrm>
        <a:graphic>
          <a:graphicData uri="http://schemas.openxmlformats.org/drawingml/2006/table">
            <a:tbl>
              <a:tblPr firstRow="1" bandRow="1">
                <a:tableStyleId>{5C22544A-7EE6-4342-B048-85BDC9FD1C3A}</a:tableStyleId>
              </a:tblPr>
              <a:tblGrid>
                <a:gridCol w="1054517">
                  <a:extLst>
                    <a:ext uri="{9D8B030D-6E8A-4147-A177-3AD203B41FA5}">
                      <a16:colId xmlns:a16="http://schemas.microsoft.com/office/drawing/2014/main" val="3037331657"/>
                    </a:ext>
                  </a:extLst>
                </a:gridCol>
                <a:gridCol w="4214169">
                  <a:extLst>
                    <a:ext uri="{9D8B030D-6E8A-4147-A177-3AD203B41FA5}">
                      <a16:colId xmlns:a16="http://schemas.microsoft.com/office/drawing/2014/main" val="2270604064"/>
                    </a:ext>
                  </a:extLst>
                </a:gridCol>
              </a:tblGrid>
              <a:tr h="412723">
                <a:tc>
                  <a:txBody>
                    <a:bodyPr/>
                    <a:lstStyle/>
                    <a:p>
                      <a:r>
                        <a:rPr lang="en-IN" sz="1200" b="1" dirty="0"/>
                        <a:t>Feasibility Type</a:t>
                      </a:r>
                      <a:endParaRPr lang="en-IN" sz="1200" dirty="0"/>
                    </a:p>
                  </a:txBody>
                  <a:tcPr anchor="ctr">
                    <a:solidFill>
                      <a:srgbClr val="0070C0"/>
                    </a:solidFill>
                  </a:tcPr>
                </a:tc>
                <a:tc>
                  <a:txBody>
                    <a:bodyPr/>
                    <a:lstStyle/>
                    <a:p>
                      <a:r>
                        <a:rPr lang="en-IN" sz="1200" b="1" dirty="0"/>
                        <a:t>Our Readiness</a:t>
                      </a:r>
                      <a:endParaRPr lang="en-IN" sz="1200" dirty="0"/>
                    </a:p>
                  </a:txBody>
                  <a:tcPr anchor="ctr">
                    <a:solidFill>
                      <a:srgbClr val="0070C0"/>
                    </a:solidFill>
                  </a:tcPr>
                </a:tc>
                <a:extLst>
                  <a:ext uri="{0D108BD9-81ED-4DB2-BD59-A6C34878D82A}">
                    <a16:rowId xmlns:a16="http://schemas.microsoft.com/office/drawing/2014/main" val="3560941103"/>
                  </a:ext>
                </a:extLst>
              </a:tr>
              <a:tr h="506372">
                <a:tc>
                  <a:txBody>
                    <a:bodyPr/>
                    <a:lstStyle/>
                    <a:p>
                      <a:r>
                        <a:rPr lang="en-IN" sz="1200" b="1"/>
                        <a:t>Technical</a:t>
                      </a:r>
                      <a:endParaRPr lang="en-IN" sz="1200"/>
                    </a:p>
                  </a:txBody>
                  <a:tcPr anchor="ctr"/>
                </a:tc>
                <a:tc>
                  <a:txBody>
                    <a:bodyPr/>
                    <a:lstStyle/>
                    <a:p>
                      <a:r>
                        <a:rPr lang="en-US" sz="1200" dirty="0"/>
                        <a:t>AI/ML, Cloud, and Blockchain are mature technologies. Mobile penetration in Jharkhand is high.</a:t>
                      </a:r>
                    </a:p>
                  </a:txBody>
                  <a:tcPr anchor="ctr"/>
                </a:tc>
                <a:extLst>
                  <a:ext uri="{0D108BD9-81ED-4DB2-BD59-A6C34878D82A}">
                    <a16:rowId xmlns:a16="http://schemas.microsoft.com/office/drawing/2014/main" val="2183567443"/>
                  </a:ext>
                </a:extLst>
              </a:tr>
              <a:tr h="505174">
                <a:tc>
                  <a:txBody>
                    <a:bodyPr/>
                    <a:lstStyle/>
                    <a:p>
                      <a:r>
                        <a:rPr lang="en-IN" sz="1200" b="1"/>
                        <a:t>Data</a:t>
                      </a:r>
                      <a:endParaRPr lang="en-IN" sz="1200"/>
                    </a:p>
                  </a:txBody>
                  <a:tcPr anchor="ctr"/>
                </a:tc>
                <a:tc>
                  <a:txBody>
                    <a:bodyPr/>
                    <a:lstStyle/>
                    <a:p>
                      <a:r>
                        <a:rPr lang="en-US" sz="1200" dirty="0"/>
                        <a:t>Govt department lists, UGC-affiliated HEI databases, and CSR registries already exist.</a:t>
                      </a:r>
                    </a:p>
                  </a:txBody>
                  <a:tcPr anchor="ctr"/>
                </a:tc>
                <a:extLst>
                  <a:ext uri="{0D108BD9-81ED-4DB2-BD59-A6C34878D82A}">
                    <a16:rowId xmlns:a16="http://schemas.microsoft.com/office/drawing/2014/main" val="359480996"/>
                  </a:ext>
                </a:extLst>
              </a:tr>
              <a:tr h="412723">
                <a:tc>
                  <a:txBody>
                    <a:bodyPr/>
                    <a:lstStyle/>
                    <a:p>
                      <a:r>
                        <a:rPr lang="en-IN" sz="1200" b="1"/>
                        <a:t>Operational</a:t>
                      </a:r>
                      <a:endParaRPr lang="en-IN" sz="1200"/>
                    </a:p>
                  </a:txBody>
                  <a:tcPr anchor="ctr"/>
                </a:tc>
                <a:tc>
                  <a:txBody>
                    <a:bodyPr/>
                    <a:lstStyle/>
                    <a:p>
                      <a:r>
                        <a:rPr lang="en-US" sz="1200" dirty="0"/>
                        <a:t>Can be piloted in 1–2 districts first. Minimal infrastructure required (just a web/mobile app).</a:t>
                      </a:r>
                    </a:p>
                  </a:txBody>
                  <a:tcPr anchor="ctr"/>
                </a:tc>
                <a:extLst>
                  <a:ext uri="{0D108BD9-81ED-4DB2-BD59-A6C34878D82A}">
                    <a16:rowId xmlns:a16="http://schemas.microsoft.com/office/drawing/2014/main" val="1426445182"/>
                  </a:ext>
                </a:extLst>
              </a:tr>
              <a:tr h="412723">
                <a:tc>
                  <a:txBody>
                    <a:bodyPr/>
                    <a:lstStyle/>
                    <a:p>
                      <a:r>
                        <a:rPr lang="en-IN" sz="1200" b="1"/>
                        <a:t>Skill</a:t>
                      </a:r>
                      <a:endParaRPr lang="en-IN" sz="1200"/>
                    </a:p>
                  </a:txBody>
                  <a:tcPr anchor="ctr"/>
                </a:tc>
                <a:tc>
                  <a:txBody>
                    <a:bodyPr/>
                    <a:lstStyle/>
                    <a:p>
                      <a:r>
                        <a:rPr lang="en-US" sz="1200" dirty="0"/>
                        <a:t>Local engineering colleges can maintain the platform post-deployment.</a:t>
                      </a:r>
                    </a:p>
                  </a:txBody>
                  <a:tcPr anchor="ctr"/>
                </a:tc>
                <a:extLst>
                  <a:ext uri="{0D108BD9-81ED-4DB2-BD59-A6C34878D82A}">
                    <a16:rowId xmlns:a16="http://schemas.microsoft.com/office/drawing/2014/main" val="3952498554"/>
                  </a:ext>
                </a:extLst>
              </a:tr>
            </a:tbl>
          </a:graphicData>
        </a:graphic>
      </p:graphicFrame>
      <p:sp>
        <p:nvSpPr>
          <p:cNvPr id="54" name="TextBox 53">
            <a:extLst>
              <a:ext uri="{FF2B5EF4-FFF2-40B4-BE49-F238E27FC236}">
                <a16:creationId xmlns:a16="http://schemas.microsoft.com/office/drawing/2014/main" id="{B041B18C-1D76-40DD-9DF9-D61FA6A56CEE}"/>
              </a:ext>
            </a:extLst>
          </p:cNvPr>
          <p:cNvSpPr txBox="1"/>
          <p:nvPr/>
        </p:nvSpPr>
        <p:spPr>
          <a:xfrm>
            <a:off x="2037044" y="362362"/>
            <a:ext cx="3638042" cy="400110"/>
          </a:xfrm>
          <a:prstGeom prst="rect">
            <a:avLst/>
          </a:prstGeom>
          <a:noFill/>
        </p:spPr>
        <p:txBody>
          <a:bodyPr wrap="square" rtlCol="0">
            <a:spAutoFit/>
          </a:bodyPr>
          <a:lstStyle/>
          <a:p>
            <a:r>
              <a:rPr lang="en-US" sz="2000" b="1" u="sng" dirty="0">
                <a:solidFill>
                  <a:schemeClr val="accent1">
                    <a:lumMod val="50000"/>
                  </a:schemeClr>
                </a:solidFill>
              </a:rPr>
              <a:t>FEASIBILITY (Can We Build It?)</a:t>
            </a:r>
            <a:endParaRPr lang="en-IN" sz="2000" b="1" u="sng" dirty="0">
              <a:solidFill>
                <a:schemeClr val="accent1">
                  <a:lumMod val="50000"/>
                </a:schemeClr>
              </a:solidFill>
            </a:endParaRPr>
          </a:p>
        </p:txBody>
      </p:sp>
      <p:sp>
        <p:nvSpPr>
          <p:cNvPr id="55" name="TextBox 54">
            <a:extLst>
              <a:ext uri="{FF2B5EF4-FFF2-40B4-BE49-F238E27FC236}">
                <a16:creationId xmlns:a16="http://schemas.microsoft.com/office/drawing/2014/main" id="{0FBAB709-67CC-4B2B-A738-7D2EFA1CA057}"/>
              </a:ext>
            </a:extLst>
          </p:cNvPr>
          <p:cNvSpPr txBox="1"/>
          <p:nvPr/>
        </p:nvSpPr>
        <p:spPr>
          <a:xfrm>
            <a:off x="2218139" y="3633025"/>
            <a:ext cx="3793208" cy="400110"/>
          </a:xfrm>
          <a:prstGeom prst="rect">
            <a:avLst/>
          </a:prstGeom>
          <a:noFill/>
        </p:spPr>
        <p:txBody>
          <a:bodyPr wrap="square" rtlCol="0">
            <a:spAutoFit/>
          </a:bodyPr>
          <a:lstStyle/>
          <a:p>
            <a:r>
              <a:rPr lang="en-IN" sz="2000" b="1" u="sng" dirty="0">
                <a:solidFill>
                  <a:schemeClr val="accent1">
                    <a:lumMod val="50000"/>
                  </a:schemeClr>
                </a:solidFill>
              </a:rPr>
              <a:t>VIABILITY (Will It Sustain?)</a:t>
            </a:r>
          </a:p>
        </p:txBody>
      </p:sp>
    </p:spTree>
    <p:extLst>
      <p:ext uri="{BB962C8B-B14F-4D97-AF65-F5344CB8AC3E}">
        <p14:creationId xmlns:p14="http://schemas.microsoft.com/office/powerpoint/2010/main" val="375338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1339892" y="149329"/>
            <a:ext cx="6475863" cy="610379"/>
          </a:xfrm>
        </p:spPr>
        <p:txBody>
          <a:bodyPr/>
          <a:lstStyle/>
          <a:p>
            <a:pPr algn="l" eaLnBrk="1" hangingPunct="1"/>
            <a:r>
              <a:rPr lang="en-US" sz="32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88035" y="61751"/>
            <a:ext cx="1251857" cy="588582"/>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6948" y="0"/>
            <a:ext cx="1771267" cy="836359"/>
          </a:xfrm>
          <a:prstGeom prst="rect">
            <a:avLst/>
          </a:prstGeom>
        </p:spPr>
      </p:pic>
      <p:sp>
        <p:nvSpPr>
          <p:cNvPr id="2" name="Oval 1">
            <a:extLst>
              <a:ext uri="{FF2B5EF4-FFF2-40B4-BE49-F238E27FC236}">
                <a16:creationId xmlns:a16="http://schemas.microsoft.com/office/drawing/2014/main" id="{767600C2-068B-4D44-8C58-A9B797E3F42E}"/>
              </a:ext>
            </a:extLst>
          </p:cNvPr>
          <p:cNvSpPr/>
          <p:nvPr/>
        </p:nvSpPr>
        <p:spPr>
          <a:xfrm>
            <a:off x="2162505" y="2042785"/>
            <a:ext cx="1778872" cy="1219852"/>
          </a:xfrm>
          <a:prstGeom prst="ellipse">
            <a:avLst/>
          </a:prstGeom>
          <a:solidFill>
            <a:schemeClr val="accent1">
              <a:lumMod val="60000"/>
              <a:lumOff val="40000"/>
            </a:schemeClr>
          </a:solidFill>
          <a:ln>
            <a:solidFill>
              <a:schemeClr val="tx2">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F9B48B0A-05B3-4262-A404-B62C7C7EA59F}"/>
              </a:ext>
            </a:extLst>
          </p:cNvPr>
          <p:cNvCxnSpPr/>
          <p:nvPr/>
        </p:nvCxnSpPr>
        <p:spPr>
          <a:xfrm>
            <a:off x="3857297" y="1492469"/>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ACE11C6-0B78-4920-AF04-5B66739FDD89}"/>
              </a:ext>
            </a:extLst>
          </p:cNvPr>
          <p:cNvCxnSpPr>
            <a:cxnSpLocks/>
            <a:endCxn id="2" idx="0"/>
          </p:cNvCxnSpPr>
          <p:nvPr/>
        </p:nvCxnSpPr>
        <p:spPr>
          <a:xfrm flipH="1">
            <a:off x="3051941" y="1654641"/>
            <a:ext cx="3942" cy="388144"/>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9B4504E-DDDC-4128-818E-B738C3A6BB41}"/>
              </a:ext>
            </a:extLst>
          </p:cNvPr>
          <p:cNvCxnSpPr>
            <a:cxnSpLocks/>
          </p:cNvCxnSpPr>
          <p:nvPr/>
        </p:nvCxnSpPr>
        <p:spPr>
          <a:xfrm>
            <a:off x="1860329" y="2647781"/>
            <a:ext cx="294291" cy="98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8BB1FAA-7289-471C-84AB-4366A9255A06}"/>
              </a:ext>
            </a:extLst>
          </p:cNvPr>
          <p:cNvCxnSpPr>
            <a:cxnSpLocks/>
          </p:cNvCxnSpPr>
          <p:nvPr/>
        </p:nvCxnSpPr>
        <p:spPr>
          <a:xfrm flipV="1">
            <a:off x="3055883" y="1641836"/>
            <a:ext cx="599089" cy="12805"/>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D294B74-0934-4F64-BF92-3FACC687DD08}"/>
              </a:ext>
            </a:extLst>
          </p:cNvPr>
          <p:cNvCxnSpPr>
            <a:cxnSpLocks/>
          </p:cNvCxnSpPr>
          <p:nvPr/>
        </p:nvCxnSpPr>
        <p:spPr>
          <a:xfrm flipH="1">
            <a:off x="2653013" y="3671307"/>
            <a:ext cx="4107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BA3876C-8388-4BB4-BB07-CAA0A102F908}"/>
              </a:ext>
            </a:extLst>
          </p:cNvPr>
          <p:cNvCxnSpPr>
            <a:cxnSpLocks/>
          </p:cNvCxnSpPr>
          <p:nvPr/>
        </p:nvCxnSpPr>
        <p:spPr>
          <a:xfrm flipV="1">
            <a:off x="1860329" y="2127520"/>
            <a:ext cx="0" cy="520261"/>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167B852-4651-4A73-98EE-3276E80EA7E4}"/>
              </a:ext>
            </a:extLst>
          </p:cNvPr>
          <p:cNvCxnSpPr>
            <a:cxnSpLocks/>
          </p:cNvCxnSpPr>
          <p:nvPr/>
        </p:nvCxnSpPr>
        <p:spPr>
          <a:xfrm>
            <a:off x="3063769" y="3272495"/>
            <a:ext cx="0" cy="398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EC269036-0943-4509-A3BB-1CD39C5249A0}"/>
              </a:ext>
            </a:extLst>
          </p:cNvPr>
          <p:cNvCxnSpPr>
            <a:cxnSpLocks/>
          </p:cNvCxnSpPr>
          <p:nvPr/>
        </p:nvCxnSpPr>
        <p:spPr>
          <a:xfrm>
            <a:off x="3941377" y="2674881"/>
            <a:ext cx="25225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6B7CF3D-FC62-4CAA-B3F7-1CCBBE44905B}"/>
              </a:ext>
            </a:extLst>
          </p:cNvPr>
          <p:cNvCxnSpPr>
            <a:cxnSpLocks/>
          </p:cNvCxnSpPr>
          <p:nvPr/>
        </p:nvCxnSpPr>
        <p:spPr>
          <a:xfrm flipV="1">
            <a:off x="4204138" y="2674881"/>
            <a:ext cx="0" cy="614856"/>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Rounded Corners 57">
            <a:extLst>
              <a:ext uri="{FF2B5EF4-FFF2-40B4-BE49-F238E27FC236}">
                <a16:creationId xmlns:a16="http://schemas.microsoft.com/office/drawing/2014/main" id="{FFA1B990-813B-4A3A-B099-C8C19DB854F7}"/>
              </a:ext>
            </a:extLst>
          </p:cNvPr>
          <p:cNvSpPr/>
          <p:nvPr/>
        </p:nvSpPr>
        <p:spPr>
          <a:xfrm>
            <a:off x="3662857" y="855942"/>
            <a:ext cx="2501460" cy="12986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3" name="Rectangle: Rounded Corners 62">
            <a:extLst>
              <a:ext uri="{FF2B5EF4-FFF2-40B4-BE49-F238E27FC236}">
                <a16:creationId xmlns:a16="http://schemas.microsoft.com/office/drawing/2014/main" id="{F4270A6B-6339-4827-AB17-D15641348358}"/>
              </a:ext>
            </a:extLst>
          </p:cNvPr>
          <p:cNvSpPr/>
          <p:nvPr/>
        </p:nvSpPr>
        <p:spPr>
          <a:xfrm>
            <a:off x="162063" y="816965"/>
            <a:ext cx="2501460" cy="12986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4" name="Rectangle: Rounded Corners 63">
            <a:extLst>
              <a:ext uri="{FF2B5EF4-FFF2-40B4-BE49-F238E27FC236}">
                <a16:creationId xmlns:a16="http://schemas.microsoft.com/office/drawing/2014/main" id="{43E68FDC-C848-43A2-A56E-6242C56A678E}"/>
              </a:ext>
            </a:extLst>
          </p:cNvPr>
          <p:cNvSpPr/>
          <p:nvPr/>
        </p:nvSpPr>
        <p:spPr>
          <a:xfrm>
            <a:off x="151552" y="3234303"/>
            <a:ext cx="2501460" cy="12986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6" name="Rectangle: Rounded Corners 65">
            <a:extLst>
              <a:ext uri="{FF2B5EF4-FFF2-40B4-BE49-F238E27FC236}">
                <a16:creationId xmlns:a16="http://schemas.microsoft.com/office/drawing/2014/main" id="{E03A1F24-C152-41AD-9B4F-54B3A9B71EE3}"/>
              </a:ext>
            </a:extLst>
          </p:cNvPr>
          <p:cNvSpPr/>
          <p:nvPr/>
        </p:nvSpPr>
        <p:spPr>
          <a:xfrm>
            <a:off x="3654972" y="3292850"/>
            <a:ext cx="2501460" cy="12986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81" name="TextBox 80">
            <a:extLst>
              <a:ext uri="{FF2B5EF4-FFF2-40B4-BE49-F238E27FC236}">
                <a16:creationId xmlns:a16="http://schemas.microsoft.com/office/drawing/2014/main" id="{CA21828D-F3D2-4E99-90BE-E2598EE9E838}"/>
              </a:ext>
            </a:extLst>
          </p:cNvPr>
          <p:cNvSpPr txBox="1"/>
          <p:nvPr/>
        </p:nvSpPr>
        <p:spPr>
          <a:xfrm>
            <a:off x="2425728" y="2186182"/>
            <a:ext cx="1241066" cy="923330"/>
          </a:xfrm>
          <a:prstGeom prst="rect">
            <a:avLst/>
          </a:prstGeom>
          <a:noFill/>
        </p:spPr>
        <p:txBody>
          <a:bodyPr wrap="square" rtlCol="0">
            <a:spAutoFit/>
          </a:bodyPr>
          <a:lstStyle/>
          <a:p>
            <a:r>
              <a:rPr lang="en-US" b="1" u="sng" dirty="0">
                <a:solidFill>
                  <a:schemeClr val="bg1">
                    <a:lumMod val="95000"/>
                  </a:schemeClr>
                </a:solidFill>
              </a:rPr>
              <a:t>BENEFITS OF THE SOLUTION</a:t>
            </a:r>
            <a:endParaRPr lang="en-IN" b="1" u="sng" dirty="0">
              <a:solidFill>
                <a:schemeClr val="bg1">
                  <a:lumMod val="95000"/>
                </a:schemeClr>
              </a:solidFill>
            </a:endParaRPr>
          </a:p>
        </p:txBody>
      </p:sp>
      <p:sp>
        <p:nvSpPr>
          <p:cNvPr id="83" name="Rectangle 82">
            <a:extLst>
              <a:ext uri="{FF2B5EF4-FFF2-40B4-BE49-F238E27FC236}">
                <a16:creationId xmlns:a16="http://schemas.microsoft.com/office/drawing/2014/main" id="{99C17178-98D7-4F84-8783-5DC53760AF48}"/>
              </a:ext>
            </a:extLst>
          </p:cNvPr>
          <p:cNvSpPr/>
          <p:nvPr/>
        </p:nvSpPr>
        <p:spPr>
          <a:xfrm>
            <a:off x="201626" y="4698434"/>
            <a:ext cx="5890970" cy="122693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85" name="Straight Connector 84">
            <a:extLst>
              <a:ext uri="{FF2B5EF4-FFF2-40B4-BE49-F238E27FC236}">
                <a16:creationId xmlns:a16="http://schemas.microsoft.com/office/drawing/2014/main" id="{20C6F474-CC2C-4714-9367-FFFDFBC364C0}"/>
              </a:ext>
            </a:extLst>
          </p:cNvPr>
          <p:cNvCxnSpPr>
            <a:cxnSpLocks/>
          </p:cNvCxnSpPr>
          <p:nvPr/>
        </p:nvCxnSpPr>
        <p:spPr>
          <a:xfrm>
            <a:off x="6348249" y="816965"/>
            <a:ext cx="0" cy="5961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C37642F3-CCC5-4D3A-B199-B756E7E7F20F}"/>
              </a:ext>
            </a:extLst>
          </p:cNvPr>
          <p:cNvCxnSpPr/>
          <p:nvPr/>
        </p:nvCxnSpPr>
        <p:spPr>
          <a:xfrm>
            <a:off x="6400780" y="3463728"/>
            <a:ext cx="5486399" cy="0"/>
          </a:xfrm>
          <a:prstGeom prst="line">
            <a:avLst/>
          </a:prstGeom>
        </p:spPr>
        <p:style>
          <a:lnRef idx="2">
            <a:schemeClr val="accent1"/>
          </a:lnRef>
          <a:fillRef idx="0">
            <a:schemeClr val="accent1"/>
          </a:fillRef>
          <a:effectRef idx="1">
            <a:schemeClr val="accent1"/>
          </a:effectRef>
          <a:fontRef idx="minor">
            <a:schemeClr val="tx1"/>
          </a:fontRef>
        </p:style>
      </p:cxnSp>
      <p:sp>
        <p:nvSpPr>
          <p:cNvPr id="89" name="Rectangle: Rounded Corners 88">
            <a:extLst>
              <a:ext uri="{FF2B5EF4-FFF2-40B4-BE49-F238E27FC236}">
                <a16:creationId xmlns:a16="http://schemas.microsoft.com/office/drawing/2014/main" id="{346027A8-333F-4962-9724-FF9C8023C3DC}"/>
              </a:ext>
            </a:extLst>
          </p:cNvPr>
          <p:cNvSpPr/>
          <p:nvPr/>
        </p:nvSpPr>
        <p:spPr>
          <a:xfrm>
            <a:off x="6540065" y="3652333"/>
            <a:ext cx="2530458" cy="1381140"/>
          </a:xfrm>
          <a:prstGeom prst="roundRect">
            <a:avLst/>
          </a:prstGeom>
          <a:solidFill>
            <a:srgbClr val="D9F5DC"/>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sp>
        <p:nvSpPr>
          <p:cNvPr id="91" name="Rectangle: Rounded Corners 90">
            <a:extLst>
              <a:ext uri="{FF2B5EF4-FFF2-40B4-BE49-F238E27FC236}">
                <a16:creationId xmlns:a16="http://schemas.microsoft.com/office/drawing/2014/main" id="{F33245F3-FFF6-43D0-B25A-6733F3C9747B}"/>
              </a:ext>
            </a:extLst>
          </p:cNvPr>
          <p:cNvSpPr/>
          <p:nvPr/>
        </p:nvSpPr>
        <p:spPr>
          <a:xfrm>
            <a:off x="6579751" y="5222076"/>
            <a:ext cx="2490772" cy="1381139"/>
          </a:xfrm>
          <a:prstGeom prst="round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2" name="Rectangle: Rounded Corners 91">
            <a:extLst>
              <a:ext uri="{FF2B5EF4-FFF2-40B4-BE49-F238E27FC236}">
                <a16:creationId xmlns:a16="http://schemas.microsoft.com/office/drawing/2014/main" id="{71C04101-D3AD-44AF-8038-7F5B7F761145}"/>
              </a:ext>
            </a:extLst>
          </p:cNvPr>
          <p:cNvSpPr/>
          <p:nvPr/>
        </p:nvSpPr>
        <p:spPr>
          <a:xfrm>
            <a:off x="9262338" y="3658695"/>
            <a:ext cx="2710617" cy="1381138"/>
          </a:xfrm>
          <a:prstGeom prst="roundRect">
            <a:avLst/>
          </a:prstGeom>
          <a:solidFill>
            <a:srgbClr val="CEDCFD"/>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3" name="Rectangle: Rounded Corners 92">
            <a:extLst>
              <a:ext uri="{FF2B5EF4-FFF2-40B4-BE49-F238E27FC236}">
                <a16:creationId xmlns:a16="http://schemas.microsoft.com/office/drawing/2014/main" id="{77DE6BE4-C8C4-4C9A-8C15-EB6CC5205958}"/>
              </a:ext>
            </a:extLst>
          </p:cNvPr>
          <p:cNvSpPr/>
          <p:nvPr/>
        </p:nvSpPr>
        <p:spPr>
          <a:xfrm>
            <a:off x="9338561" y="5234799"/>
            <a:ext cx="2634394" cy="1381139"/>
          </a:xfrm>
          <a:prstGeom prst="roundRect">
            <a:avLst/>
          </a:prstGeom>
          <a:solidFill>
            <a:srgbClr val="BDE6FD"/>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4" name="TextBox 93">
            <a:extLst>
              <a:ext uri="{FF2B5EF4-FFF2-40B4-BE49-F238E27FC236}">
                <a16:creationId xmlns:a16="http://schemas.microsoft.com/office/drawing/2014/main" id="{09427A83-CA9C-46C1-8327-B144A51AC156}"/>
              </a:ext>
            </a:extLst>
          </p:cNvPr>
          <p:cNvSpPr txBox="1"/>
          <p:nvPr/>
        </p:nvSpPr>
        <p:spPr>
          <a:xfrm>
            <a:off x="7232427" y="429764"/>
            <a:ext cx="2501461" cy="400110"/>
          </a:xfrm>
          <a:prstGeom prst="rect">
            <a:avLst/>
          </a:prstGeom>
          <a:noFill/>
        </p:spPr>
        <p:txBody>
          <a:bodyPr wrap="square" rtlCol="0">
            <a:spAutoFit/>
          </a:bodyPr>
          <a:lstStyle/>
          <a:p>
            <a:pPr algn="ctr"/>
            <a:r>
              <a:rPr lang="en-IN" sz="2000" b="1" u="sng" dirty="0"/>
              <a:t>BUSINESS MODEL</a:t>
            </a:r>
          </a:p>
        </p:txBody>
      </p:sp>
      <p:sp>
        <p:nvSpPr>
          <p:cNvPr id="96" name="Rectangle 1">
            <a:extLst>
              <a:ext uri="{FF2B5EF4-FFF2-40B4-BE49-F238E27FC236}">
                <a16:creationId xmlns:a16="http://schemas.microsoft.com/office/drawing/2014/main" id="{A2268152-51E5-4F8D-A8D5-E6BCC907A51E}"/>
              </a:ext>
            </a:extLst>
          </p:cNvPr>
          <p:cNvSpPr>
            <a:spLocks noChangeArrowheads="1"/>
          </p:cNvSpPr>
          <p:nvPr/>
        </p:nvSpPr>
        <p:spPr bwMode="auto">
          <a:xfrm>
            <a:off x="6617097" y="3885826"/>
            <a:ext cx="2413741" cy="830997"/>
          </a:xfrm>
          <a:prstGeom prst="rect">
            <a:avLst/>
          </a:prstGeom>
          <a:solidFill>
            <a:srgbClr val="D9F5DC"/>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sng" strike="noStrike" cap="none" normalizeH="0" baseline="0" dirty="0">
                <a:ln>
                  <a:noFill/>
                </a:ln>
                <a:solidFill>
                  <a:schemeClr val="tx1"/>
                </a:solidFill>
                <a:effectLst/>
                <a:latin typeface="+mj-lt"/>
              </a:rPr>
              <a:t>TARGET CUSTOMERS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mj-lt"/>
              </a:rPr>
              <a:t>Citizens, community organizations, local bodies, government departments, Higher Education Institutions (HEIs), industries, startups, MSMEs, CSR organizations, research laboratories, and innovation </a:t>
            </a:r>
            <a:r>
              <a:rPr kumimoji="0" lang="en-US" altLang="en-US" sz="800" i="0" u="none" strike="noStrike" cap="none" normalizeH="0" baseline="0" dirty="0" err="1">
                <a:ln>
                  <a:noFill/>
                </a:ln>
                <a:solidFill>
                  <a:schemeClr val="tx1"/>
                </a:solidFill>
                <a:effectLst/>
                <a:latin typeface="+mj-lt"/>
              </a:rPr>
              <a:t>centres</a:t>
            </a:r>
            <a:r>
              <a:rPr kumimoji="0" lang="en-US" altLang="en-US" sz="800" i="0" u="none" strike="noStrike" cap="none" normalizeH="0" baseline="0" dirty="0">
                <a:ln>
                  <a:noFill/>
                </a:ln>
                <a:solidFill>
                  <a:schemeClr val="tx1"/>
                </a:solidFill>
                <a:effectLst/>
                <a:latin typeface="+mj-lt"/>
              </a:rPr>
              <a:t>.</a:t>
            </a:r>
          </a:p>
        </p:txBody>
      </p:sp>
      <p:sp>
        <p:nvSpPr>
          <p:cNvPr id="99" name="TextBox 98">
            <a:extLst>
              <a:ext uri="{FF2B5EF4-FFF2-40B4-BE49-F238E27FC236}">
                <a16:creationId xmlns:a16="http://schemas.microsoft.com/office/drawing/2014/main" id="{3014144F-9910-4514-B8FE-CD80B466FCDA}"/>
              </a:ext>
            </a:extLst>
          </p:cNvPr>
          <p:cNvSpPr txBox="1"/>
          <p:nvPr/>
        </p:nvSpPr>
        <p:spPr>
          <a:xfrm>
            <a:off x="9254458" y="3722498"/>
            <a:ext cx="2844800" cy="1323439"/>
          </a:xfrm>
          <a:prstGeom prst="rect">
            <a:avLst/>
          </a:prstGeom>
          <a:noFill/>
        </p:spPr>
        <p:txBody>
          <a:bodyPr wrap="square" rtlCol="0">
            <a:spAutoFit/>
          </a:bodyPr>
          <a:lstStyle/>
          <a:p>
            <a:r>
              <a:rPr lang="en-US" sz="800" b="1" u="sng" dirty="0"/>
              <a:t>FINANCIAL MODEL</a:t>
            </a:r>
          </a:p>
          <a:p>
            <a:r>
              <a:rPr lang="en-US" sz="800" dirty="0"/>
              <a:t>• </a:t>
            </a:r>
            <a:r>
              <a:rPr lang="en-US" sz="800" b="1" dirty="0"/>
              <a:t>Government Funding:</a:t>
            </a:r>
            <a:r>
              <a:rPr lang="en-US" sz="800" dirty="0"/>
              <a:t> Platform development, maintenance </a:t>
            </a:r>
          </a:p>
          <a:p>
            <a:r>
              <a:rPr lang="en-US" sz="800" dirty="0"/>
              <a:t>    and </a:t>
            </a:r>
            <a:r>
              <a:rPr lang="en-US" sz="800" dirty="0" err="1"/>
              <a:t>programme</a:t>
            </a:r>
            <a:r>
              <a:rPr lang="en-US" sz="800" dirty="0"/>
              <a:t> support through government initiatives.</a:t>
            </a:r>
            <a:br>
              <a:rPr lang="en-US" sz="800" dirty="0"/>
            </a:br>
            <a:r>
              <a:rPr lang="en-US" sz="800" dirty="0"/>
              <a:t>• </a:t>
            </a:r>
            <a:r>
              <a:rPr lang="en-US" sz="800" b="1" dirty="0"/>
              <a:t>CSR &amp; Industry:</a:t>
            </a:r>
            <a:r>
              <a:rPr lang="en-US" sz="800" dirty="0"/>
              <a:t> Funding for selected challenges, prototypes</a:t>
            </a:r>
          </a:p>
          <a:p>
            <a:r>
              <a:rPr lang="en-US" sz="800" dirty="0"/>
              <a:t>    and  deployment.</a:t>
            </a:r>
            <a:br>
              <a:rPr lang="en-US" sz="800" dirty="0"/>
            </a:br>
            <a:r>
              <a:rPr lang="en-US" sz="800" dirty="0"/>
              <a:t>• </a:t>
            </a:r>
            <a:r>
              <a:rPr lang="en-US" sz="800" b="1" dirty="0"/>
              <a:t>Research Grants:</a:t>
            </a:r>
            <a:r>
              <a:rPr lang="en-US" sz="800" dirty="0"/>
              <a:t> Project-based funding for innovation and                      research.</a:t>
            </a:r>
            <a:br>
              <a:rPr lang="en-US" sz="800" dirty="0"/>
            </a:br>
            <a:r>
              <a:rPr lang="en-US" sz="800" dirty="0"/>
              <a:t>• </a:t>
            </a:r>
            <a:r>
              <a:rPr lang="en-US" sz="800" b="1" dirty="0"/>
              <a:t>Partnership Model:</a:t>
            </a:r>
            <a:r>
              <a:rPr lang="en-US" sz="800" dirty="0"/>
              <a:t> Institutions and industry collaborate on </a:t>
            </a:r>
          </a:p>
          <a:p>
            <a:r>
              <a:rPr lang="en-US" sz="800" dirty="0"/>
              <a:t>   high-impact solutions.</a:t>
            </a:r>
          </a:p>
          <a:p>
            <a:pPr algn="just"/>
            <a:endParaRPr lang="en-US" sz="800" b="1" dirty="0"/>
          </a:p>
        </p:txBody>
      </p:sp>
      <p:sp>
        <p:nvSpPr>
          <p:cNvPr id="100" name="TextBox 99">
            <a:extLst>
              <a:ext uri="{FF2B5EF4-FFF2-40B4-BE49-F238E27FC236}">
                <a16:creationId xmlns:a16="http://schemas.microsoft.com/office/drawing/2014/main" id="{1D369F89-716C-41D4-AB59-2738B20314DD}"/>
              </a:ext>
            </a:extLst>
          </p:cNvPr>
          <p:cNvSpPr txBox="1"/>
          <p:nvPr/>
        </p:nvSpPr>
        <p:spPr>
          <a:xfrm>
            <a:off x="6617098" y="5207975"/>
            <a:ext cx="2413739" cy="1323439"/>
          </a:xfrm>
          <a:prstGeom prst="rect">
            <a:avLst/>
          </a:prstGeom>
          <a:noFill/>
        </p:spPr>
        <p:txBody>
          <a:bodyPr wrap="square" rtlCol="0">
            <a:spAutoFit/>
          </a:bodyPr>
          <a:lstStyle/>
          <a:p>
            <a:r>
              <a:rPr lang="en-US" sz="800" b="1" u="sng" dirty="0"/>
              <a:t>VALUE ADDED SERVICES</a:t>
            </a:r>
          </a:p>
          <a:p>
            <a:r>
              <a:rPr lang="en-US" sz="800" dirty="0"/>
              <a:t>• </a:t>
            </a:r>
            <a:r>
              <a:rPr lang="en-US" sz="800" b="1" dirty="0"/>
              <a:t>Citizens:</a:t>
            </a:r>
            <a:r>
              <a:rPr lang="en-US" sz="800" dirty="0"/>
              <a:t> Easy challenge submission, tracking,                        transparency, and solution updates.</a:t>
            </a:r>
            <a:br>
              <a:rPr lang="en-US" sz="800" dirty="0"/>
            </a:br>
            <a:r>
              <a:rPr lang="en-US" sz="800" dirty="0"/>
              <a:t>• </a:t>
            </a:r>
            <a:r>
              <a:rPr lang="en-US" sz="800" b="1" dirty="0"/>
              <a:t>HEIs:</a:t>
            </a:r>
            <a:r>
              <a:rPr lang="en-US" sz="800" dirty="0"/>
              <a:t> Real-world projects, research opportunities, multidisciplinary collaboration, and student innovation.</a:t>
            </a:r>
            <a:br>
              <a:rPr lang="en-US" sz="800" dirty="0"/>
            </a:br>
            <a:r>
              <a:rPr lang="en-US" sz="800" dirty="0"/>
              <a:t>• </a:t>
            </a:r>
            <a:r>
              <a:rPr lang="en-US" sz="800" b="1" dirty="0"/>
              <a:t>Industry:</a:t>
            </a:r>
            <a:r>
              <a:rPr lang="en-US" sz="800" dirty="0"/>
              <a:t> Access to innovation, talent, research expertise, and deployment opportunities.</a:t>
            </a:r>
            <a:br>
              <a:rPr lang="en-US" sz="800" dirty="0"/>
            </a:br>
            <a:r>
              <a:rPr lang="en-US" sz="800" dirty="0"/>
              <a:t>• </a:t>
            </a:r>
            <a:r>
              <a:rPr lang="en-US" sz="800" b="1" dirty="0"/>
              <a:t>Government:</a:t>
            </a:r>
            <a:r>
              <a:rPr lang="en-US" sz="800" dirty="0"/>
              <a:t> Dashboards, analytics, project monitoring, and measurable social-impact tracking.</a:t>
            </a:r>
            <a:endParaRPr lang="en-US" dirty="0"/>
          </a:p>
        </p:txBody>
      </p:sp>
      <p:sp>
        <p:nvSpPr>
          <p:cNvPr id="101" name="TextBox 100">
            <a:extLst>
              <a:ext uri="{FF2B5EF4-FFF2-40B4-BE49-F238E27FC236}">
                <a16:creationId xmlns:a16="http://schemas.microsoft.com/office/drawing/2014/main" id="{DF52C395-8C54-4A1D-93A7-21790C92B8B2}"/>
              </a:ext>
            </a:extLst>
          </p:cNvPr>
          <p:cNvSpPr txBox="1"/>
          <p:nvPr/>
        </p:nvSpPr>
        <p:spPr>
          <a:xfrm>
            <a:off x="9338561" y="5300308"/>
            <a:ext cx="2354317" cy="1231106"/>
          </a:xfrm>
          <a:prstGeom prst="rect">
            <a:avLst/>
          </a:prstGeom>
          <a:noFill/>
        </p:spPr>
        <p:txBody>
          <a:bodyPr wrap="square" rtlCol="0">
            <a:spAutoFit/>
          </a:bodyPr>
          <a:lstStyle/>
          <a:p>
            <a:r>
              <a:rPr lang="en-IN" sz="800" b="1" u="sng" dirty="0"/>
              <a:t>SCALABILITY</a:t>
            </a:r>
          </a:p>
          <a:p>
            <a:r>
              <a:rPr lang="en-IN" sz="800" b="1" dirty="0"/>
              <a:t>Pilot in selected districts</a:t>
            </a:r>
            <a:br>
              <a:rPr lang="en-IN" sz="800" dirty="0"/>
            </a:br>
            <a:r>
              <a:rPr lang="en-IN" sz="800" dirty="0"/>
              <a:t>→ onboard government departments &amp; HEIs</a:t>
            </a:r>
            <a:br>
              <a:rPr lang="en-IN" sz="800" dirty="0"/>
            </a:br>
            <a:r>
              <a:rPr lang="en-IN" sz="800" dirty="0"/>
              <a:t>→ integrate industries, </a:t>
            </a:r>
            <a:r>
              <a:rPr lang="en-IN" sz="800" dirty="0" err="1"/>
              <a:t>startups</a:t>
            </a:r>
            <a:r>
              <a:rPr lang="en-IN" sz="800" dirty="0"/>
              <a:t> &amp; CSR partners</a:t>
            </a:r>
            <a:br>
              <a:rPr lang="en-IN" sz="800" dirty="0"/>
            </a:br>
            <a:r>
              <a:rPr lang="en-IN" sz="800" dirty="0"/>
              <a:t>→ expand citizen/community participation</a:t>
            </a:r>
            <a:br>
              <a:rPr lang="en-IN" sz="800" dirty="0"/>
            </a:br>
            <a:r>
              <a:rPr lang="en-IN" sz="800" dirty="0"/>
              <a:t>→ monitor successful projects</a:t>
            </a:r>
            <a:br>
              <a:rPr lang="en-IN" sz="800" dirty="0"/>
            </a:br>
            <a:r>
              <a:rPr lang="en-IN" sz="800" dirty="0"/>
              <a:t>→ </a:t>
            </a:r>
            <a:r>
              <a:rPr lang="en-IN" sz="800" b="1" dirty="0"/>
              <a:t>state-wide implementation across Jharkhand</a:t>
            </a:r>
            <a:endParaRPr lang="en-IN" sz="800" dirty="0"/>
          </a:p>
          <a:p>
            <a:endParaRPr lang="en-IN" dirty="0"/>
          </a:p>
        </p:txBody>
      </p:sp>
      <p:pic>
        <p:nvPicPr>
          <p:cNvPr id="105" name="Picture 104">
            <a:extLst>
              <a:ext uri="{FF2B5EF4-FFF2-40B4-BE49-F238E27FC236}">
                <a16:creationId xmlns:a16="http://schemas.microsoft.com/office/drawing/2014/main" id="{F2ADC48E-62A2-44B6-8A4E-E9574611298B}"/>
              </a:ext>
            </a:extLst>
          </p:cNvPr>
          <p:cNvPicPr>
            <a:picLocks noChangeAspect="1"/>
          </p:cNvPicPr>
          <p:nvPr/>
        </p:nvPicPr>
        <p:blipFill>
          <a:blip r:embed="rId4"/>
          <a:stretch>
            <a:fillRect/>
          </a:stretch>
        </p:blipFill>
        <p:spPr>
          <a:xfrm>
            <a:off x="6437581" y="923908"/>
            <a:ext cx="3195148" cy="2317360"/>
          </a:xfrm>
          <a:prstGeom prst="rect">
            <a:avLst/>
          </a:prstGeom>
          <a:solidFill>
            <a:srgbClr val="CEDCFD"/>
          </a:solidFill>
        </p:spPr>
      </p:pic>
      <p:pic>
        <p:nvPicPr>
          <p:cNvPr id="107" name="Picture 106">
            <a:extLst>
              <a:ext uri="{FF2B5EF4-FFF2-40B4-BE49-F238E27FC236}">
                <a16:creationId xmlns:a16="http://schemas.microsoft.com/office/drawing/2014/main" id="{F1A2F22E-7BFD-4873-BCAE-14E8C3FE4F65}"/>
              </a:ext>
            </a:extLst>
          </p:cNvPr>
          <p:cNvPicPr>
            <a:picLocks noChangeAspect="1"/>
          </p:cNvPicPr>
          <p:nvPr/>
        </p:nvPicPr>
        <p:blipFill>
          <a:blip r:embed="rId5"/>
          <a:stretch>
            <a:fillRect/>
          </a:stretch>
        </p:blipFill>
        <p:spPr>
          <a:xfrm>
            <a:off x="9733888" y="1015371"/>
            <a:ext cx="2054546" cy="2184922"/>
          </a:xfrm>
          <a:prstGeom prst="rect">
            <a:avLst/>
          </a:prstGeom>
        </p:spPr>
      </p:pic>
      <p:sp>
        <p:nvSpPr>
          <p:cNvPr id="108" name="TextBox 107">
            <a:extLst>
              <a:ext uri="{FF2B5EF4-FFF2-40B4-BE49-F238E27FC236}">
                <a16:creationId xmlns:a16="http://schemas.microsoft.com/office/drawing/2014/main" id="{51000753-1E91-4526-982A-956D223044EA}"/>
              </a:ext>
            </a:extLst>
          </p:cNvPr>
          <p:cNvSpPr txBox="1"/>
          <p:nvPr/>
        </p:nvSpPr>
        <p:spPr>
          <a:xfrm>
            <a:off x="3846786" y="855942"/>
            <a:ext cx="2215058" cy="1169551"/>
          </a:xfrm>
          <a:prstGeom prst="rect">
            <a:avLst/>
          </a:prstGeom>
          <a:noFill/>
        </p:spPr>
        <p:txBody>
          <a:bodyPr wrap="square" rtlCol="0">
            <a:spAutoFit/>
          </a:bodyPr>
          <a:lstStyle/>
          <a:p>
            <a:r>
              <a:rPr lang="en-US" sz="1000" b="1" u="sng" dirty="0"/>
              <a:t>For Citizens &amp; Communities</a:t>
            </a:r>
          </a:p>
          <a:p>
            <a:pPr>
              <a:buFont typeface="Arial" panose="020B0604020202020204" pitchFamily="34" charset="0"/>
              <a:buChar char="•"/>
            </a:pPr>
            <a:r>
              <a:rPr lang="en-US" sz="1000" b="1" dirty="0"/>
              <a:t>Easy Problem Reporting:</a:t>
            </a:r>
            <a:r>
              <a:rPr lang="en-US" sz="1000" dirty="0"/>
              <a:t> Submit local challenges with photos, videos, location and documents. </a:t>
            </a:r>
          </a:p>
          <a:p>
            <a:pPr>
              <a:buFont typeface="Arial" panose="020B0604020202020204" pitchFamily="34" charset="0"/>
              <a:buChar char="•"/>
            </a:pPr>
            <a:r>
              <a:rPr lang="en-US" sz="1000" b="1" dirty="0"/>
              <a:t>Transparency &amp; Tracking:</a:t>
            </a:r>
            <a:r>
              <a:rPr lang="en-US" sz="1000" dirty="0"/>
              <a:t> Track problem validation, institutional assignment and solution progress.</a:t>
            </a:r>
          </a:p>
        </p:txBody>
      </p:sp>
      <p:sp>
        <p:nvSpPr>
          <p:cNvPr id="109" name="TextBox 108">
            <a:extLst>
              <a:ext uri="{FF2B5EF4-FFF2-40B4-BE49-F238E27FC236}">
                <a16:creationId xmlns:a16="http://schemas.microsoft.com/office/drawing/2014/main" id="{EF6C4DC2-0B09-441B-8D1A-0A59138B00D2}"/>
              </a:ext>
            </a:extLst>
          </p:cNvPr>
          <p:cNvSpPr txBox="1"/>
          <p:nvPr/>
        </p:nvSpPr>
        <p:spPr>
          <a:xfrm>
            <a:off x="3875642" y="3319950"/>
            <a:ext cx="2094325" cy="1169551"/>
          </a:xfrm>
          <a:prstGeom prst="rect">
            <a:avLst/>
          </a:prstGeom>
          <a:noFill/>
        </p:spPr>
        <p:txBody>
          <a:bodyPr wrap="square" rtlCol="0">
            <a:spAutoFit/>
          </a:bodyPr>
          <a:lstStyle/>
          <a:p>
            <a:r>
              <a:rPr lang="en-US" sz="1000" b="1" u="sng" dirty="0"/>
              <a:t>For HEIs &amp; Students</a:t>
            </a:r>
          </a:p>
          <a:p>
            <a:pPr>
              <a:buFont typeface="Arial" panose="020B0604020202020204" pitchFamily="34" charset="0"/>
              <a:buChar char="•"/>
            </a:pPr>
            <a:r>
              <a:rPr lang="en-US" sz="1000" b="1" dirty="0"/>
              <a:t>Real-World Learning:</a:t>
            </a:r>
            <a:r>
              <a:rPr lang="en-US" sz="1000" dirty="0"/>
              <a:t> Work on verified societal challenges through multidisciplinary projects. </a:t>
            </a:r>
          </a:p>
          <a:p>
            <a:pPr>
              <a:buFont typeface="Arial" panose="020B0604020202020204" pitchFamily="34" charset="0"/>
              <a:buChar char="•"/>
            </a:pPr>
            <a:r>
              <a:rPr lang="en-US" sz="1000" b="1" dirty="0"/>
              <a:t>Research &amp; Innovation:</a:t>
            </a:r>
            <a:r>
              <a:rPr lang="en-US" sz="1000" dirty="0"/>
              <a:t> Connect student/faculty expertise with real community needs.</a:t>
            </a:r>
          </a:p>
        </p:txBody>
      </p:sp>
      <p:sp>
        <p:nvSpPr>
          <p:cNvPr id="111" name="TextBox 110">
            <a:extLst>
              <a:ext uri="{FF2B5EF4-FFF2-40B4-BE49-F238E27FC236}">
                <a16:creationId xmlns:a16="http://schemas.microsoft.com/office/drawing/2014/main" id="{A57506F1-AF62-414A-A685-91D7FBB8834A}"/>
              </a:ext>
            </a:extLst>
          </p:cNvPr>
          <p:cNvSpPr txBox="1"/>
          <p:nvPr/>
        </p:nvSpPr>
        <p:spPr>
          <a:xfrm>
            <a:off x="241738" y="3241268"/>
            <a:ext cx="2284972" cy="1446550"/>
          </a:xfrm>
          <a:prstGeom prst="rect">
            <a:avLst/>
          </a:prstGeom>
          <a:noFill/>
        </p:spPr>
        <p:txBody>
          <a:bodyPr wrap="square" rtlCol="0">
            <a:spAutoFit/>
          </a:bodyPr>
          <a:lstStyle/>
          <a:p>
            <a:r>
              <a:rPr lang="en-US" sz="1000" b="1" u="sng" dirty="0"/>
              <a:t>For Industry &amp; Startups</a:t>
            </a:r>
          </a:p>
          <a:p>
            <a:pPr>
              <a:buFont typeface="Arial" panose="020B0604020202020204" pitchFamily="34" charset="0"/>
              <a:buChar char="•"/>
            </a:pPr>
            <a:r>
              <a:rPr lang="en-US" sz="1000" b="1" dirty="0"/>
              <a:t>Innovation &amp; Talent Access:</a:t>
            </a:r>
            <a:r>
              <a:rPr lang="en-US" sz="1000" dirty="0"/>
              <a:t> Discover real-world problems and collaborate with skilled student/faculty teams. </a:t>
            </a:r>
          </a:p>
          <a:p>
            <a:pPr>
              <a:buFont typeface="Arial" panose="020B0604020202020204" pitchFamily="34" charset="0"/>
              <a:buChar char="•"/>
            </a:pPr>
            <a:r>
              <a:rPr lang="en-US" sz="1000" b="1" dirty="0"/>
              <a:t>Mentorship &amp; Deployment:</a:t>
            </a:r>
            <a:r>
              <a:rPr lang="en-US" sz="1000" dirty="0"/>
              <a:t> Support prototyping, testing, funding and scalable implementation. </a:t>
            </a:r>
          </a:p>
          <a:p>
            <a:endParaRPr lang="en-IN" dirty="0"/>
          </a:p>
        </p:txBody>
      </p:sp>
      <p:sp>
        <p:nvSpPr>
          <p:cNvPr id="112" name="TextBox 111">
            <a:extLst>
              <a:ext uri="{FF2B5EF4-FFF2-40B4-BE49-F238E27FC236}">
                <a16:creationId xmlns:a16="http://schemas.microsoft.com/office/drawing/2014/main" id="{5B95B797-4AB0-4E78-9EC1-DA960989EC30}"/>
              </a:ext>
            </a:extLst>
          </p:cNvPr>
          <p:cNvSpPr txBox="1"/>
          <p:nvPr/>
        </p:nvSpPr>
        <p:spPr>
          <a:xfrm>
            <a:off x="241738" y="816965"/>
            <a:ext cx="2411274" cy="1446550"/>
          </a:xfrm>
          <a:prstGeom prst="rect">
            <a:avLst/>
          </a:prstGeom>
          <a:noFill/>
        </p:spPr>
        <p:txBody>
          <a:bodyPr wrap="square" rtlCol="0">
            <a:spAutoFit/>
          </a:bodyPr>
          <a:lstStyle/>
          <a:p>
            <a:r>
              <a:rPr lang="en-US" sz="1000" b="1" u="sng" dirty="0"/>
              <a:t>For Government &amp; Policymakers</a:t>
            </a:r>
          </a:p>
          <a:p>
            <a:pPr>
              <a:buFont typeface="Arial" panose="020B0604020202020204" pitchFamily="34" charset="0"/>
              <a:buChar char="•"/>
            </a:pPr>
            <a:r>
              <a:rPr lang="en-US" sz="1000" b="1" dirty="0"/>
              <a:t>Data-Driven Governance:</a:t>
            </a:r>
            <a:r>
              <a:rPr lang="en-US" sz="1000" dirty="0"/>
              <a:t> Monitor challenge trends, domains, institutional participation and project progress. </a:t>
            </a:r>
          </a:p>
          <a:p>
            <a:pPr>
              <a:buFont typeface="Arial" panose="020B0604020202020204" pitchFamily="34" charset="0"/>
              <a:buChar char="•"/>
            </a:pPr>
            <a:r>
              <a:rPr lang="en-US" sz="1000" b="1" dirty="0"/>
              <a:t>Measurable Impact:</a:t>
            </a:r>
            <a:r>
              <a:rPr lang="en-US" sz="1000" dirty="0"/>
              <a:t> Track solution outcomes and improve policies and public-service delivery. </a:t>
            </a:r>
          </a:p>
          <a:p>
            <a:endParaRPr lang="en-IN" dirty="0"/>
          </a:p>
        </p:txBody>
      </p:sp>
      <p:sp>
        <p:nvSpPr>
          <p:cNvPr id="113" name="TextBox 112">
            <a:extLst>
              <a:ext uri="{FF2B5EF4-FFF2-40B4-BE49-F238E27FC236}">
                <a16:creationId xmlns:a16="http://schemas.microsoft.com/office/drawing/2014/main" id="{617B1462-7461-46CE-84F6-09C86FD867C9}"/>
              </a:ext>
            </a:extLst>
          </p:cNvPr>
          <p:cNvSpPr txBox="1"/>
          <p:nvPr/>
        </p:nvSpPr>
        <p:spPr>
          <a:xfrm>
            <a:off x="210821" y="4754011"/>
            <a:ext cx="5728229" cy="1446550"/>
          </a:xfrm>
          <a:prstGeom prst="rect">
            <a:avLst/>
          </a:prstGeom>
          <a:noFill/>
        </p:spPr>
        <p:txBody>
          <a:bodyPr wrap="square" rtlCol="0">
            <a:spAutoFit/>
          </a:bodyPr>
          <a:lstStyle/>
          <a:p>
            <a:r>
              <a:rPr lang="en-US" sz="1000" b="1" u="sng" dirty="0"/>
              <a:t>POTENTIAL IMPACTS ON THE TARGET ECOSYSTEM</a:t>
            </a:r>
          </a:p>
          <a:p>
            <a:pPr>
              <a:buFont typeface="Arial" panose="020B0604020202020204" pitchFamily="34" charset="0"/>
              <a:buChar char="•"/>
            </a:pPr>
            <a:r>
              <a:rPr lang="en-US" sz="1000" b="1" dirty="0"/>
              <a:t>For Citizens:</a:t>
            </a:r>
            <a:r>
              <a:rPr lang="en-US" sz="1000" dirty="0"/>
              <a:t> Faster access to innovative solutions for local challenges. </a:t>
            </a:r>
          </a:p>
          <a:p>
            <a:pPr>
              <a:buFont typeface="Arial" panose="020B0604020202020204" pitchFamily="34" charset="0"/>
              <a:buChar char="•"/>
            </a:pPr>
            <a:r>
              <a:rPr lang="en-US" sz="1000" b="1" dirty="0"/>
              <a:t>For Education:</a:t>
            </a:r>
            <a:r>
              <a:rPr lang="en-US" sz="1000" dirty="0"/>
              <a:t> Experiential learning, multidisciplinary research and stronger industry collaboration. </a:t>
            </a:r>
          </a:p>
          <a:p>
            <a:pPr>
              <a:buFont typeface="Arial" panose="020B0604020202020204" pitchFamily="34" charset="0"/>
              <a:buChar char="•"/>
            </a:pPr>
            <a:r>
              <a:rPr lang="en-US" sz="1000" b="1" dirty="0"/>
              <a:t>For Industry:</a:t>
            </a:r>
            <a:r>
              <a:rPr lang="en-US" sz="1000" dirty="0"/>
              <a:t> Access to talent, ideas, research expertise and deployment opportunities. </a:t>
            </a:r>
          </a:p>
          <a:p>
            <a:pPr>
              <a:buFont typeface="Arial" panose="020B0604020202020204" pitchFamily="34" charset="0"/>
              <a:buChar char="•"/>
            </a:pPr>
            <a:r>
              <a:rPr lang="en-US" sz="1000" b="1" dirty="0"/>
              <a:t>For Government:</a:t>
            </a:r>
            <a:r>
              <a:rPr lang="en-US" sz="1000" dirty="0"/>
              <a:t> Better visibility, monitoring and evidence-based decision-making. </a:t>
            </a:r>
          </a:p>
          <a:p>
            <a:pPr>
              <a:buFont typeface="Arial" panose="020B0604020202020204" pitchFamily="34" charset="0"/>
              <a:buChar char="•"/>
            </a:pPr>
            <a:r>
              <a:rPr lang="en-US" sz="1000" b="1" dirty="0"/>
              <a:t>For Communities:</a:t>
            </a:r>
            <a:r>
              <a:rPr lang="en-US" sz="1000" dirty="0"/>
              <a:t> Greater participation, inclusion and locally relevant solutions. </a:t>
            </a:r>
          </a:p>
          <a:p>
            <a:pPr>
              <a:buFont typeface="Arial" panose="020B0604020202020204" pitchFamily="34" charset="0"/>
              <a:buChar char="•"/>
            </a:pPr>
            <a:r>
              <a:rPr lang="en-US" sz="1000" b="1" dirty="0"/>
              <a:t>For Innovation:</a:t>
            </a:r>
            <a:r>
              <a:rPr lang="en-US" sz="1000" dirty="0"/>
              <a:t> Converts societal challenges into research, entrepreneurship and deployable solutions. </a:t>
            </a:r>
          </a:p>
          <a:p>
            <a:endParaRPr lang="en-IN" dirty="0"/>
          </a:p>
        </p:txBody>
      </p:sp>
      <p:pic>
        <p:nvPicPr>
          <p:cNvPr id="115" name="Picture 114">
            <a:extLst>
              <a:ext uri="{FF2B5EF4-FFF2-40B4-BE49-F238E27FC236}">
                <a16:creationId xmlns:a16="http://schemas.microsoft.com/office/drawing/2014/main" id="{DB571790-6742-4AFA-A3FD-84D99E106865}"/>
              </a:ext>
            </a:extLst>
          </p:cNvPr>
          <p:cNvPicPr>
            <a:picLocks noChangeAspect="1"/>
          </p:cNvPicPr>
          <p:nvPr/>
        </p:nvPicPr>
        <p:blipFill>
          <a:blip r:embed="rId6"/>
          <a:stretch>
            <a:fillRect/>
          </a:stretch>
        </p:blipFill>
        <p:spPr>
          <a:xfrm>
            <a:off x="860534" y="5968778"/>
            <a:ext cx="4382814" cy="829316"/>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168164"/>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497</TotalTime>
  <Words>1311</Words>
  <Application>Microsoft Office PowerPoint</Application>
  <PresentationFormat>Widescreen</PresentationFormat>
  <Paragraphs>134</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Garamond</vt:lpstr>
      <vt:lpstr>Times New Roman</vt:lpstr>
      <vt:lpstr>TradeGothic</vt:lpstr>
      <vt:lpstr>Wingdings</vt:lpstr>
      <vt:lpstr>Office Theme</vt:lpstr>
      <vt:lpstr>SMART INDIA HACKATHON 2026</vt:lpstr>
      <vt:lpstr>PowerPoint Presentation</vt:lpstr>
      <vt:lpstr>PowerPoint Presentation</vt:lpstr>
      <vt:lpstr>IMPACT AND BENEFITS</vt:lpstr>
      <vt:lpstr>RESEARCH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INDIA HACKATHON 2026</dc:title>
  <dc:creator>Vishu Kashyap</dc:creator>
  <cp:lastModifiedBy>Nidhi Sindhu</cp:lastModifiedBy>
  <cp:revision>55</cp:revision>
  <dcterms:modified xsi:type="dcterms:W3CDTF">2026-09-08T17:46:02Z</dcterms:modified>
</cp:coreProperties>
</file>